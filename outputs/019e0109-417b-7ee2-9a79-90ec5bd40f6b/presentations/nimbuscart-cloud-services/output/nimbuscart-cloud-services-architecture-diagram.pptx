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84f198bd3548da" /><Relationship Type="http://schemas.openxmlformats.org/officeDocument/2006/relationships/extended-properties" Target="/docProps/app.xml" Id="R5763cb990f12448f" /><Relationship Type="http://schemas.openxmlformats.org/officeDocument/2006/relationships/officeDocument" Target="/ppt/presentation.xml" Id="R81ba4d219aa44d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26d7627c9a41b9"/>
  </p:sldMasterIdLst>
  <p:notesMasterIdLst>
    <p:notesMasterId xmlns:r="http://schemas.openxmlformats.org/officeDocument/2006/relationships" r:id="R02abb2cc69884c3d"/>
  </p:notesMasterIdLst>
  <p:sldIdLst>
    <p:sldId xmlns:r="http://schemas.openxmlformats.org/officeDocument/2006/relationships" id="256" r:id="R648ecebe992849f4"/>
    <p:sldId xmlns:r="http://schemas.openxmlformats.org/officeDocument/2006/relationships" id="257" r:id="R69a39fd985264bee"/>
    <p:sldId xmlns:r="http://schemas.openxmlformats.org/officeDocument/2006/relationships" id="258" r:id="Ra6a1ac4e4aee49a5"/>
    <p:sldId xmlns:r="http://schemas.openxmlformats.org/officeDocument/2006/relationships" id="259" r:id="Rd9dcc0fcc8bd4f99"/>
    <p:sldId xmlns:r="http://schemas.openxmlformats.org/officeDocument/2006/relationships" id="260" r:id="Re23fb601dfdd48da"/>
    <p:sldId xmlns:r="http://schemas.openxmlformats.org/officeDocument/2006/relationships" id="261" r:id="R2d84ca1843384d98"/>
    <p:sldId xmlns:r="http://schemas.openxmlformats.org/officeDocument/2006/relationships" id="262" r:id="Re73cfcbaa8e940b7"/>
    <p:sldId xmlns:r="http://schemas.openxmlformats.org/officeDocument/2006/relationships" id="263" r:id="Rcc26ead7ecbc4ea5"/>
    <p:sldId xmlns:r="http://schemas.openxmlformats.org/officeDocument/2006/relationships" id="264" r:id="R79df17dc55ad44e3"/>
    <p:sldId xmlns:r="http://schemas.openxmlformats.org/officeDocument/2006/relationships" id="265" r:id="Rd5991225a6b94c99"/>
    <p:sldId xmlns:r="http://schemas.openxmlformats.org/officeDocument/2006/relationships" id="266" r:id="R9920653eaffe47a7"/>
    <p:sldId xmlns:r="http://schemas.openxmlformats.org/officeDocument/2006/relationships" id="267" r:id="Rc1080462b360408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26d7627c9a41b9" /><Relationship Type="http://schemas.openxmlformats.org/officeDocument/2006/relationships/theme" Target="/ppt/theme/theme1.xml" Id="Rbcdbbd59839640d4" /><Relationship Type="http://schemas.openxmlformats.org/officeDocument/2006/relationships/notesMaster" Target="/ppt/notesMasters/notesMaster1.xml" Id="R02abb2cc69884c3d" /><Relationship Type="http://schemas.openxmlformats.org/officeDocument/2006/relationships/presProps" Target="/ppt/presProps.xml" Id="R7cb89d1a49344c26" /><Relationship Type="http://schemas.openxmlformats.org/officeDocument/2006/relationships/viewProps" Target="/ppt/viewProps.xml" Id="Rdb0bc388d74c4796" /><Relationship Type="http://schemas.openxmlformats.org/officeDocument/2006/relationships/tableStyles" Target="/ppt/tableStyles.xml" Id="R9359583d24d441af" /><Relationship Type="http://schemas.openxmlformats.org/officeDocument/2006/relationships/slide" Target="/ppt/slides/slide1.xml" Id="R648ecebe992849f4" /><Relationship Type="http://schemas.openxmlformats.org/officeDocument/2006/relationships/slide" Target="/ppt/slides/slide2.xml" Id="R69a39fd985264bee" /><Relationship Type="http://schemas.openxmlformats.org/officeDocument/2006/relationships/slide" Target="/ppt/slides/slide3.xml" Id="Ra6a1ac4e4aee49a5" /><Relationship Type="http://schemas.openxmlformats.org/officeDocument/2006/relationships/slide" Target="/ppt/slides/slide4.xml" Id="Rd9dcc0fcc8bd4f99" /><Relationship Type="http://schemas.openxmlformats.org/officeDocument/2006/relationships/slide" Target="/ppt/slides/slide5.xml" Id="Re23fb601dfdd48da" /><Relationship Type="http://schemas.openxmlformats.org/officeDocument/2006/relationships/slide" Target="/ppt/slides/slide6.xml" Id="R2d84ca1843384d98" /><Relationship Type="http://schemas.openxmlformats.org/officeDocument/2006/relationships/slide" Target="/ppt/slides/slide7.xml" Id="Re73cfcbaa8e940b7" /><Relationship Type="http://schemas.openxmlformats.org/officeDocument/2006/relationships/slide" Target="/ppt/slides/slide8.xml" Id="Rcc26ead7ecbc4ea5" /><Relationship Type="http://schemas.openxmlformats.org/officeDocument/2006/relationships/slide" Target="/ppt/slides/slide9.xml" Id="R79df17dc55ad44e3" /><Relationship Type="http://schemas.openxmlformats.org/officeDocument/2006/relationships/slide" Target="/ppt/slides/slide10.xml" Id="Rd5991225a6b94c99" /><Relationship Type="http://schemas.openxmlformats.org/officeDocument/2006/relationships/slide" Target="/ppt/slides/slide11.xml" Id="R9920653eaffe47a7" /><Relationship Type="http://schemas.openxmlformats.org/officeDocument/2006/relationships/slide" Target="/ppt/slides/slide12.xml" Id="Rc1080462b36040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96e589d158d41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92e19f472446f5" /><Relationship Type="http://schemas.openxmlformats.org/officeDocument/2006/relationships/notesMaster" Target="/ppt/notesMasters/notesMaster1.xml" Id="R8088c492cef34c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3f7b76fcf0436f" /><Relationship Type="http://schemas.openxmlformats.org/officeDocument/2006/relationships/notesMaster" Target="/ppt/notesMasters/notesMaster1.xml" Id="Rba937844c5144a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f7ed82ac0f4356" /><Relationship Type="http://schemas.openxmlformats.org/officeDocument/2006/relationships/notesMaster" Target="/ppt/notesMasters/notesMaster1.xml" Id="R0c21bf1d971647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77e4b6f50941e1" /><Relationship Type="http://schemas.openxmlformats.org/officeDocument/2006/relationships/notesMaster" Target="/ppt/notesMasters/notesMaster1.xml" Id="Ra821cad13fc245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2b0c3aef864f0e" /><Relationship Type="http://schemas.openxmlformats.org/officeDocument/2006/relationships/notesMaster" Target="/ppt/notesMasters/notesMaster1.xml" Id="R12a117667a3342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03d978337c46ed" /><Relationship Type="http://schemas.openxmlformats.org/officeDocument/2006/relationships/notesMaster" Target="/ppt/notesMasters/notesMaster1.xml" Id="Rd768a4b3121547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27b7df9f264d39" /><Relationship Type="http://schemas.openxmlformats.org/officeDocument/2006/relationships/notesMaster" Target="/ppt/notesMasters/notesMaster1.xml" Id="R484e6850299645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6a91f3b38d4e60" /><Relationship Type="http://schemas.openxmlformats.org/officeDocument/2006/relationships/notesMaster" Target="/ppt/notesMasters/notesMaster1.xml" Id="R8cfe212e517542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089adfc404484c" /><Relationship Type="http://schemas.openxmlformats.org/officeDocument/2006/relationships/notesMaster" Target="/ppt/notesMasters/notesMaster1.xml" Id="Ra8050c4603424c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53ccdfae8f4732" /><Relationship Type="http://schemas.openxmlformats.org/officeDocument/2006/relationships/notesMaster" Target="/ppt/notesMasters/notesMaster1.xml" Id="R8206cf9d212843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c9a96b73cc4606" /><Relationship Type="http://schemas.openxmlformats.org/officeDocument/2006/relationships/notesMaster" Target="/ppt/notesMasters/notesMaster1.xml" Id="R02bb9ba926f3437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a4245d439f04ff9" /><Relationship Type="http://schemas.openxmlformats.org/officeDocument/2006/relationships/notesMaster" Target="/ppt/notesMasters/notesMaster1.xml" Id="R68b430a2562845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Hi everyone, our project is NimbusCart for CMPE-282.</a:t>
            </a:r>
          </a:p>
          <a:p xmlns:a="http://schemas.openxmlformats.org/drawingml/2006/main">
            <a:r>
              <a:rPr lang="en-US" dirty="0"/>
              <a:t>We are team cloud9.</a:t>
            </a:r>
          </a:p>
          <a:p xmlns:a="http://schemas.openxmlformats.org/drawingml/2006/main">
            <a:r>
              <a:rPr lang="en-US" dirty="0"/>
              <a:t>The idea behind NimbusCart is to show a retail application as a real cloud services system, not only a frontend demo.</a:t>
            </a:r>
          </a:p>
          <a:p xmlns:a="http://schemas.openxmlformats.org/drawingml/2006/main">
            <a:r>
              <a:rPr lang="en-US" dirty="0"/>
              <a:t>In this presentation I will walk through what we built, why the problem matters, how the services work together, and how the AWS deployment and CI/CD pieces fit into the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This slide is the best summary of what we actually built.</a:t>
            </a:r>
          </a:p>
          <a:p xmlns:a="http://schemas.openxmlformats.org/drawingml/2006/main">
            <a:r>
              <a:rPr lang="en-US" dirty="0"/>
              <a:t>NimbusCart has a customer-facing shopping flow and an admin-facing enterprise data flow.</a:t>
            </a:r>
          </a:p>
          <a:p xmlns:a="http://schemas.openxmlformats.org/drawingml/2006/main">
            <a:r>
              <a:rPr lang="en-US" dirty="0"/>
              <a:t>On the customer side, users can browse products, manage a cart, place an order, and view order history.</a:t>
            </a:r>
          </a:p>
          <a:p xmlns:a="http://schemas.openxmlformats.org/drawingml/2006/main">
            <a:r>
              <a:rPr lang="en-US" dirty="0"/>
              <a:t>On the admin side, we built an Enterprise Data Viewer for products, customers, orders, and revenue.</a:t>
            </a:r>
          </a:p>
          <a:p xmlns:a="http://schemas.openxmlformats.org/drawingml/2006/main">
            <a:r>
              <a:rPr lang="en-US" dirty="0"/>
              <a:t>The important part is that every screen maps to backend services, databases, security rules, and an AWS deployment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The motivation is that retail apps are no longer just simple product pages.</a:t>
            </a:r>
          </a:p>
          <a:p xmlns:a="http://schemas.openxmlformats.org/drawingml/2006/main">
            <a:r>
              <a:rPr lang="en-US" dirty="0"/>
              <a:t>They need secure customer access, operational data visibility, and infrastructure that can scale different workloads separately.</a:t>
            </a:r>
          </a:p>
          <a:p xmlns:a="http://schemas.openxmlformats.org/drawingml/2006/main">
            <a:r>
              <a:rPr lang="en-US" dirty="0"/>
              <a:t>The Census Bureau reported that U.S.</a:t>
            </a:r>
          </a:p>
          <a:p xmlns:a="http://schemas.openxmlformats.org/drawingml/2006/main">
            <a:r>
              <a:rPr lang="en-US" dirty="0"/>
              <a:t>retail e-commerce sales reached 316.1 billion dollars in Q4 2025, so this is a real business-scale problem.</a:t>
            </a:r>
          </a:p>
          <a:p xmlns:a="http://schemas.openxmlformats.org/drawingml/2006/main">
            <a:r>
              <a:rPr lang="en-US" dirty="0"/>
              <a:t>NimbusCart addresses this by separating customer shopping flows from admin data access while keeping both under one secure platform.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What makes NimbusCart interesting is that we treated it like a deployable system.</a:t>
            </a:r>
          </a:p>
          <a:p xmlns:a="http://schemas.openxmlformats.org/drawingml/2006/main">
            <a:r>
              <a:rPr lang="en-US" dirty="0"/>
              <a:t>The services are separated instead of putting everything in one server.</a:t>
            </a:r>
          </a:p>
          <a:p xmlns:a="http://schemas.openxmlformats.org/drawingml/2006/main">
            <a:r>
              <a:rPr lang="en-US" dirty="0"/>
              <a:t>Google OAuth handles login, JWT carries the user identity, and RBAC controls what admins can do.</a:t>
            </a:r>
          </a:p>
          <a:p xmlns:a="http://schemas.openxmlformats.org/drawingml/2006/main">
            <a:r>
              <a:rPr lang="en-US" dirty="0"/>
              <a:t>Redis is used for cart state because cart data is temporary.</a:t>
            </a:r>
          </a:p>
          <a:p xmlns:a="http://schemas.openxmlformats.org/drawingml/2006/main">
            <a:r>
              <a:rPr lang="en-US" dirty="0"/>
              <a:t>PostgreSQL is used for durable business records.</a:t>
            </a:r>
          </a:p>
          <a:p xmlns:a="http://schemas.openxmlformats.org/drawingml/2006/main">
            <a:r>
              <a:rPr lang="en-US" dirty="0"/>
              <a:t>We also added CDK and CodeBuild so deployment is part of the project, not an afterthought.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There are three main actors in the system.</a:t>
            </a:r>
          </a:p>
          <a:p xmlns:a="http://schemas.openxmlformats.org/drawingml/2006/main">
            <a:r>
              <a:rPr lang="en-US" dirty="0"/>
              <a:t>A customer signs in, shops, checks out, and tracks orders.</a:t>
            </a:r>
          </a:p>
          <a:p xmlns:a="http://schemas.openxmlformats.org/drawingml/2006/main">
            <a:r>
              <a:rPr lang="en-US" dirty="0"/>
              <a:t>An admin has a different experience: they can view enterprise data and manage catalog items.</a:t>
            </a:r>
          </a:p>
          <a:p xmlns:a="http://schemas.openxmlformats.org/drawingml/2006/main">
            <a:r>
              <a:rPr lang="en-US" dirty="0"/>
              <a:t>The system actor represents the invisible work happening behind the UI, such as JWT validation, API routing, persistence, caching, and deployment.</a:t>
            </a:r>
          </a:p>
          <a:p xmlns:a="http://schemas.openxmlformats.org/drawingml/2006/main">
            <a:r>
              <a:rPr lang="en-US" dirty="0"/>
              <a:t>This helped us define permissions and service responsibilities clearly.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This is the application architecture.</a:t>
            </a:r>
          </a:p>
          <a:p xmlns:a="http://schemas.openxmlformats.org/drawingml/2006/main">
            <a:r>
              <a:rPr lang="en-US" dirty="0"/>
              <a:t>The Vue UI is the entry point for users.</a:t>
            </a:r>
          </a:p>
          <a:p xmlns:a="http://schemas.openxmlformats.org/drawingml/2006/main">
            <a:r>
              <a:rPr lang="en-US" dirty="0"/>
              <a:t>The enterprise service handles Google OAuth, JWT generation, RBAC, and admin APIs.</a:t>
            </a:r>
          </a:p>
          <a:p xmlns:a="http://schemas.openxmlformats.org/drawingml/2006/main">
            <a:r>
              <a:rPr lang="en-US" dirty="0"/>
              <a:t>Catalog owns product and tag data.</a:t>
            </a:r>
          </a:p>
          <a:p xmlns:a="http://schemas.openxmlformats.org/drawingml/2006/main">
            <a:r>
              <a:rPr lang="en-US" dirty="0"/>
              <a:t>Cart owns Redis-backed cart operations.</a:t>
            </a:r>
          </a:p>
          <a:p xmlns:a="http://schemas.openxmlformats.org/drawingml/2006/main">
            <a:r>
              <a:rPr lang="en-US" dirty="0"/>
              <a:t>Checkout is intentionally an orchestration service: it reads the cart, creates an order, and then clears the cart.</a:t>
            </a:r>
          </a:p>
          <a:p xmlns:a="http://schemas.openxmlformats.org/drawingml/2006/main">
            <a:r>
              <a:rPr lang="en-US" dirty="0"/>
              <a:t>Orders stores the durable order history.</a:t>
            </a:r>
          </a:p>
          <a:p xmlns:a="http://schemas.openxmlformats.org/drawingml/2006/main">
            <a:r>
              <a:rPr lang="en-US" dirty="0"/>
              <a:t>This separation made the project easier to explain and deploy.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This architecture diagram shows the cloud deployment view.</a:t>
            </a:r>
          </a:p>
          <a:p xmlns:a="http://schemas.openxmlformats.org/drawingml/2006/main">
            <a:r>
              <a:rPr lang="en-US" dirty="0"/>
              <a:t>At the top is the CI/CD path: CodePipeline triggers CodeBuild, CodeBuild builds the service images, and ECR stores those Docker images.</a:t>
            </a:r>
          </a:p>
          <a:p xmlns:a="http://schemas.openxmlformats.org/drawingml/2006/main">
            <a:r>
              <a:rPr lang="en-US" dirty="0"/>
              <a:t>In the runtime path, CloudFront and the load balancer provide the edge and routing layer.</a:t>
            </a:r>
          </a:p>
          <a:p xmlns:a="http://schemas.openxmlformats.org/drawingml/2006/main">
            <a:r>
              <a:rPr lang="en-US" dirty="0"/>
              <a:t>The ALB forwards traffic into ECS Fargate, where the NimbusCart services run: UI, Enterprise/Auth, Catalog, Cart, Checkout, and Orders.</a:t>
            </a:r>
          </a:p>
          <a:p xmlns:a="http://schemas.openxmlformats.org/drawingml/2006/main">
            <a:r>
              <a:rPr lang="en-US" dirty="0"/>
              <a:t>The services connect to RDS PostgreSQL for durable enterprise, catalog, and order data; ElastiCache Redis for cart storage; CloudWatch for logs and monitoring; and Secrets Manager for sensitive configuration.</a:t>
            </a:r>
          </a:p>
          <a:p xmlns:a="http://schemas.openxmlformats.org/drawingml/2006/main">
            <a:r>
              <a:rPr lang="en-US" dirty="0"/>
              <a:t>Certificate Manager supports TLS at the edge.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The CI/CD pipeline starts from GitHub.</a:t>
            </a:r>
          </a:p>
          <a:p xmlns:a="http://schemas.openxmlformats.org/drawingml/2006/main">
            <a:r>
              <a:rPr lang="en-US" dirty="0"/>
              <a:t>When code is pushed, CodePipeline can trigger CodeBuild.</a:t>
            </a:r>
          </a:p>
          <a:p xmlns:a="http://schemas.openxmlformats.org/drawingml/2006/main">
            <a:r>
              <a:rPr lang="en-US" dirty="0"/>
              <a:t>CodeBuild logs in to ECR, builds Docker images for the UI and backend services, tags them, and pushes them to ECR.</a:t>
            </a:r>
          </a:p>
          <a:p xmlns:a="http://schemas.openxmlformats.org/drawingml/2006/main">
            <a:r>
              <a:rPr lang="en-US" dirty="0"/>
              <a:t>After that, ECS services are forced into a rolling redeployment.</a:t>
            </a:r>
          </a:p>
          <a:p xmlns:a="http://schemas.openxmlformats.org/drawingml/2006/main">
            <a:r>
              <a:rPr lang="en-US" dirty="0"/>
              <a:t>This matters because NimbusCart has multiple services, so the pipeline has to build and redeploy more than one container image consistently.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This slide lists the stack we used.</a:t>
            </a:r>
          </a:p>
          <a:p xmlns:a="http://schemas.openxmlformats.org/drawingml/2006/main">
            <a:r>
              <a:rPr lang="en-US" dirty="0"/>
              <a:t>Vue 3 and Vite gave us a lightweight frontend.</a:t>
            </a:r>
          </a:p>
          <a:p xmlns:a="http://schemas.openxmlformats.org/drawingml/2006/main">
            <a:r>
              <a:rPr lang="en-US" dirty="0"/>
              <a:t>Pinia handles frontend state like auth and cart data.</a:t>
            </a:r>
          </a:p>
          <a:p xmlns:a="http://schemas.openxmlformats.org/drawingml/2006/main">
            <a:r>
              <a:rPr lang="en-US" dirty="0"/>
              <a:t>Node and Express were used for all backend services.</a:t>
            </a:r>
          </a:p>
          <a:p xmlns:a="http://schemas.openxmlformats.org/drawingml/2006/main">
            <a:r>
              <a:rPr lang="en-US" dirty="0"/>
              <a:t>Passport.js supports Google OAuth, while JWT is shared across services for stateless authorization.</a:t>
            </a:r>
          </a:p>
          <a:p xmlns:a="http://schemas.openxmlformats.org/drawingml/2006/main">
            <a:r>
              <a:rPr lang="en-US" dirty="0"/>
              <a:t>PostgreSQL stores durable records, Redis stores temporary cart state, and the AWS services provide the deployment, networking, secrets, images, logs, and pipeline.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For the demo, I would start as a customer.</a:t>
            </a:r>
          </a:p>
          <a:p xmlns:a="http://schemas.openxmlformats.org/drawingml/2006/main">
            <a:r>
              <a:rPr lang="en-US" dirty="0"/>
              <a:t>First, sign in with Google.</a:t>
            </a:r>
          </a:p>
          <a:p xmlns:a="http://schemas.openxmlformats.org/drawingml/2006/main">
            <a:r>
              <a:rPr lang="en-US" dirty="0"/>
              <a:t>Then browse the catalog, filter products, add items to the cart, update quantities, and place an order with shipping details.</a:t>
            </a:r>
          </a:p>
          <a:p xmlns:a="http://schemas.openxmlformats.org/drawingml/2006/main">
            <a:r>
              <a:rPr lang="en-US" dirty="0"/>
              <a:t>After checkout, show the order history and order detail view.</a:t>
            </a:r>
          </a:p>
          <a:p xmlns:a="http://schemas.openxmlformats.org/drawingml/2006/main">
            <a:r>
              <a:rPr lang="en-US" dirty="0"/>
              <a:t>Then switch to the admin role and show the Enterprise Data Viewer.</a:t>
            </a:r>
          </a:p>
          <a:p xmlns:a="http://schemas.openxmlformats.org/drawingml/2006/main">
            <a:r>
              <a:rPr lang="en-US" dirty="0"/>
              <a:t>Finally, demonstrate catalog management by adding or deleting a product.</a:t>
            </a:r>
          </a:p>
          <a:p xmlns:a="http://schemas.openxmlformats.org/drawingml/2006/main">
            <a:r>
              <a:rPr lang="en-US" dirty="0"/>
              <a:t>This flow shows both user roles and the backend services behind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This is the slide where I would explain our engineering decisions.</a:t>
            </a:r>
          </a:p>
          <a:p xmlns:a="http://schemas.openxmlformats.org/drawingml/2006/main">
            <a:r>
              <a:rPr lang="en-US" dirty="0"/>
              <a:t>We did not randomly split services; each service owns a clear responsibility.</a:t>
            </a:r>
          </a:p>
          <a:p xmlns:a="http://schemas.openxmlformats.org/drawingml/2006/main">
            <a:r>
              <a:rPr lang="en-US" dirty="0"/>
              <a:t>Catalog owns product data, cart uses Redis because cart state is temporary, checkout coordinates the transaction-like flow, and orders stores history.</a:t>
            </a:r>
          </a:p>
          <a:p xmlns:a="http://schemas.openxmlformats.org/drawingml/2006/main">
            <a:r>
              <a:rPr lang="en-US" dirty="0"/>
              <a:t>Security is also layered: Google OAuth starts the login, JWT travels to each API, and the admin role gates sensitive views.</a:t>
            </a:r>
          </a:p>
          <a:p xmlns:a="http://schemas.openxmlformats.org/drawingml/2006/main">
            <a:r>
              <a:rPr lang="en-US" dirty="0"/>
              <a:t>On the cloud side, ALB gives one entry point, Fargate runs containers privately, CDK describes infrastructure, CodeBuild pushes images, and secrets stay out of the codebase.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To conclude, NimbusCart demonstrates the main ideas of a cloud services project: secure identity, service separation, managed data stores, container deployment, and automated delivery.</a:t>
            </a:r>
          </a:p>
          <a:p xmlns:a="http://schemas.openxmlformats.org/drawingml/2006/main">
            <a:r>
              <a:rPr lang="en-US" dirty="0"/>
              <a:t>The project is not only about shopping features; it is about connecting those features to a real architecture.</a:t>
            </a:r>
          </a:p>
          <a:p xmlns:a="http://schemas.openxmlformats.org/drawingml/2006/main">
            <a:r>
              <a:rPr lang="en-US" dirty="0"/>
              <a:t>The references here include our repository, the Census data used for the motivation slide, AWS documentation for the cloud services, and Google OAuth documentation for the authentication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fd478d411745c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d6b6f761bf74ecb" /><Relationship Type="http://schemas.openxmlformats.org/officeDocument/2006/relationships/slideLayout" Target="/ppt/slideLayouts/slideLayout2.xml" Id="Rc90365e796654d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0365e796654d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75e75cb1d6470a" /><Relationship Type="http://schemas.openxmlformats.org/officeDocument/2006/relationships/notesSlide" Target="/ppt/notesSlides/notesSlide1.xml" Id="R47d18d0f434545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62d8add7a64a70" /><Relationship Type="http://schemas.openxmlformats.org/officeDocument/2006/relationships/notesSlide" Target="/ppt/notesSlides/notesSlide2.xml" Id="Rafc528d7e4ac46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e0b35b7d014a56" /><Relationship Type="http://schemas.openxmlformats.org/officeDocument/2006/relationships/notesSlide" Target="/ppt/notesSlides/notesSlide3.xml" Id="R954303ac666440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c795ad3b864f43" /><Relationship Type="http://schemas.openxmlformats.org/officeDocument/2006/relationships/notesSlide" Target="/ppt/notesSlides/notesSlide4.xml" Id="R49faabccbb6e45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9f08ca4e844fa8" /><Relationship Type="http://schemas.openxmlformats.org/officeDocument/2006/relationships/notesSlide" Target="/ppt/notesSlides/notesSlide5.xml" Id="Re054cc97317647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0554718b6249af" /><Relationship Type="http://schemas.openxmlformats.org/officeDocument/2006/relationships/notesSlide" Target="/ppt/notesSlides/notesSlide6.xml" Id="Rc89aa26c9a5243f1" 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2.xml" Id="R5c24473ab0934133" /><Relationship Type="http://schemas.openxmlformats.org/officeDocument/2006/relationships/notesSlide" Target="/ppt/notesSlides/notesSlide7.xml" Id="Rf222481910fa44d6" /><Relationship Type="http://schemas.openxmlformats.org/officeDocument/2006/relationships/image" Target="../media/cloud-architecture.svg" Id="rIdCloudArch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b7978812fd46dc" /><Relationship Type="http://schemas.openxmlformats.org/officeDocument/2006/relationships/notesSlide" Target="/ppt/notesSlides/notesSlide8.xml" Id="R377d9400f7f04a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b35d98c2564f49" /><Relationship Type="http://schemas.openxmlformats.org/officeDocument/2006/relationships/notesSlide" Target="/ppt/notesSlides/notesSlide9.xml" Id="Rebc2719c4fe042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55d067eff249a2" /><Relationship Type="http://schemas.openxmlformats.org/officeDocument/2006/relationships/notesSlide" Target="/ppt/notesSlides/notesSlide10.xml" Id="R169e27ded8064e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7f6a57382e4b44" /><Relationship Type="http://schemas.openxmlformats.org/officeDocument/2006/relationships/notesSlide" Target="/ppt/notesSlides/notesSlide11.xml" Id="R5684ce3f53ea46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6f5e00384e4c89" /><Relationship Type="http://schemas.openxmlformats.org/officeDocument/2006/relationships/notesSlide" Target="/ppt/notesSlides/notesSlide12.xml" Id="Rcb7fe91d93f140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43B63F-9830-49EE-B533-BE09301F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AC684-EB3A-4489-A35B-A2C65A60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02D19-CBCC-444F-925D-962C4963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9525">
            <a:solidFill>
              <a:srgbClr val="D8DDE6"/>
            </a:solidFill>
          </a:ln>
        </p:spPr>
      </p:sp>
      <p:cxnSp>
        <p:nvCxnSpPr>
          <p:cNvPr id="4" name=""/>
          <p:cNvCxnSpPr/>
          <p:nvPr/>
        </p:nvCxn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34155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940AA-503A-47DD-A6B6-AB7A644F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5810250" cy="819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5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NimbusCart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69EB94-4105-4911-8956-BB937A94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581025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Cloud-Native Retail and Enterprise Data Portal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D6FC6-FDF8-4169-AC2A-1684B5C0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0005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CMPE-282: Cloud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DD00C4-7AAE-4B81-9EC9-5ADFFDDB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40005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Team: cloud9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1B9DE-1BF1-45EE-84C8-E1770D85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62100"/>
            <a:ext cx="31432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DD6E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DD6E9"/>
                </a:solidFill>
                <a:latin typeface="Aptos"/>
                <a:ea typeface="Aptos"/>
                <a:cs typeface="Aptos"/>
              </a:rPr>
              <a:t>Team members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B19C38-61A6-40DF-824B-A84BD648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43100"/>
            <a:ext cx="3238500" cy="152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Akshay Sunil Navani, Atharva Kulkarni, Joshini Naagraaj, Shantanu Zadbuke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31C97D-4771-4DF0-BF98-6C65B0A7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267200"/>
            <a:ext cx="5143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98719D-DB9E-42C5-A383-9EBA6E34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14825"/>
            <a:ext cx="2286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services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ED57D0-19AA-4C6E-B918-CDBCAEE6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76800"/>
            <a:ext cx="5143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0B8B46-EF73-46A6-8634-DF4A3835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24425"/>
            <a:ext cx="2286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PostgreSQL DBs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5B9AFF-837B-4E83-AD28-1A2E00E7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486400"/>
            <a:ext cx="5143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5C2A07-1EC6-4EB6-A9F5-A1F3EA90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534025"/>
            <a:ext cx="2286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Redis cache</a:t>
            </a:r>
          </a:p>
        </p:txBody>
      </p:sp>
    </p:spTree>
    <p:extLst>
      <p:ext uri="{BB962C8B-B14F-4D97-AF65-F5344CB8AC3E}">
        <p14:creationId xmlns:p14="http://schemas.microsoft.com/office/powerpoint/2010/main" val="5051822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2EAE65-7DF7-4F51-995F-BCD73866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31BCA-73BB-4E6B-AFA7-0ECE196A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We built NimbusCart as an end-to-end cloud services project.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7B8BB-FF6C-456C-9C46-F9B4721B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D752F-5A1D-4229-A1FD-3E8D0344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5143500" cy="666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Our goal was to connect a working retail experience with the cloud pieces behind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A17F2-B291-4F12-8943-C1592392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9AF67-E19A-4797-B730-8B26F2AE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19250"/>
            <a:ext cx="41529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Vue storefront for browsing, cart, checkout, and orders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7B104-B135-4788-BFC7-83029121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3A08A-C3E2-4F14-B6F1-5945FD35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71700"/>
            <a:ext cx="41529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Admin Enterprise Data Viewer for products, customers, orders, revenue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A1B075-F5E2-47B4-8A50-848D30E3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19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DE989A-2C73-43FD-A582-6C508B4F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24150"/>
            <a:ext cx="41529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Five Express APIs plus a separate nginx-served 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918D3D-3C60-4CA0-9403-B6306B95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71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4A6C4F-9CF2-4AA7-AEBA-DD7C752B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76600"/>
            <a:ext cx="41529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PostgreSQL and Redis chosen by data lifetime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65FA22-EE25-402E-A238-9542E65C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24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E8E83C-BB73-4896-AB67-A5C05D96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29050"/>
            <a:ext cx="41529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CDK and CodeBuild make deployment part of the project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339C42-0548-4C7C-9320-0CC4F82A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5048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52E1FA-04F3-4BF2-95B5-021CC29B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4286250" cy="1047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What makes it more than a shopping 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FFAF21-5294-47E0-8B82-A6EF94E8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57700"/>
            <a:ext cx="4095750" cy="457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Every feature maps to a service, datastore, security rule, and AWS deployment concern.</a:t>
            </a:r>
          </a:p>
        </p:txBody>
      </p:sp>
    </p:spTree>
    <p:extLst>
      <p:ext uri="{BB962C8B-B14F-4D97-AF65-F5344CB8AC3E}">
        <p14:creationId xmlns:p14="http://schemas.microsoft.com/office/powerpoint/2010/main" val="15680437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ADCB09-9F59-4D1E-864C-479BD41D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C869C-7418-4752-98DB-293427B0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Retail needs secure systems that scale with online demand.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2C3BB-A5B0-4C9B-8FD2-F969A344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04642-77C4-4A12-B16A-646D6779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6671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226C3-EF5D-44EE-8C5F-07901F80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95275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$316.1B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6592A-8991-4FD7-A951-9C9BAEEF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2714625" cy="609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U.S. retail e-commerce sales in Q4 2025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FC249-BF2C-455D-A604-A5AE72C1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44767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Source: U.S. Census Bureau, Quarterly Retail E-Commerce Sales, Mar. 10, 2026.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A58CF0-2F60-47AB-8201-1755F81E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905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BC660C-1C20-446E-9F7A-3B2453F3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809750"/>
            <a:ext cx="51054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Operational teams need product, customer, and order visibility in one protected portal.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51FD7-0AF8-4232-BF90-2B65E664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09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9AC56-0760-476D-ABC3-051CA209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514600"/>
            <a:ext cx="51054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Customers and admins share business data, but require different permissions.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F80E4F-0586-498B-A5A2-8B67D3AB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314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296197-A949-40A8-96BB-86BF5E3A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219450"/>
            <a:ext cx="51054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Monolithic designs make cart, catalog, checkout, and analytics harder to scale independently.</a:t>
            </a:r>
          </a:p>
        </p:txBody>
      </p:sp>
    </p:spTree>
    <p:extLst>
      <p:ext uri="{BB962C8B-B14F-4D97-AF65-F5344CB8AC3E}">
        <p14:creationId xmlns:p14="http://schemas.microsoft.com/office/powerpoint/2010/main" val="9112842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432711-EBBD-42EE-8659-361B5734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DIFFERENTIATORS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27A9D-E3C4-4594-BBF3-2FB11023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NimbusCart is built as a deployable cloud system, not just a demo UI.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BF328-C09F-40B7-BBF2-EF13FB7D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50DAF-41AA-418E-AD54-23E53081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66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5E886-E07E-42E0-AD1E-88855E52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F1FE1-E569-485C-B675-832AE2B6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14500"/>
            <a:ext cx="4400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Service isolation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E0227-1A9D-4CEA-B778-43425A15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38350"/>
            <a:ext cx="4400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Six independently deployable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3D23E-656A-465C-BDC0-C70B256D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19250"/>
            <a:ext cx="466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E73263-26F6-4FA1-9CFB-50182207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192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C7151-D816-49D6-BC46-B9D70D0F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714500"/>
            <a:ext cx="4400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Federated auth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0B020F-C16C-4805-A4B2-4624B51F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038350"/>
            <a:ext cx="4400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Google login avoids custom password handling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EB7F7A-76AC-4AE2-A8D4-A84645AD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466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E2493-1A1C-491E-803C-B34EDA3A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B3938-3D48-4795-A55A-2E0FDFA9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14625"/>
            <a:ext cx="4400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Role control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B0B81-559E-4E57-B39B-6BD348D4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38475"/>
            <a:ext cx="4400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RBAC enforced in backend and frontend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4AC6C5-3201-4646-B198-D9937927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19375"/>
            <a:ext cx="466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92394E-F979-4257-823C-3577C3DF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19375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B46773-20E0-4E3A-8B1A-0D8CEB24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714625"/>
            <a:ext cx="4400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Fast cart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E0DE76-F6D4-44C1-B6B0-E5DF5415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038475"/>
            <a:ext cx="4400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Redis stores temporary cart 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97B3A8-CA7C-41B6-BFAF-23E75E02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66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EF32E3-5B70-4BD3-9816-ECCBBB7A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9B144E-D234-44F4-ADA8-B3BCA304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4400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Workflow orchestration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13989C-712F-4A98-993F-457ADDAA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4400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Checkout calls cart, orders, then clears cart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B6D3CB-6519-4006-9218-C045169C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19500"/>
            <a:ext cx="466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9BC3BC-1204-40AD-A9DE-78DDF8D5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195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1222D6-8AEB-4302-97ED-FD43D614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14750"/>
            <a:ext cx="4400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Repeatable cloud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2B9659-31AE-4AE2-A0AF-2DF10D12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38600"/>
            <a:ext cx="4400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AWS CDK defines infrastructure as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85553A-7505-4585-8532-33D71DA2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466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921EF8-1BF4-40FC-B68F-943135C0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6C7A79-DEF0-45F0-8C4E-CC567F49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14875"/>
            <a:ext cx="4400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Automated releases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AD3D95-5D2C-4D20-B9CE-F09EDB48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38725"/>
            <a:ext cx="4400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AWS-native CI/CD builds and redeploys services</a:t>
            </a:r>
          </a:p>
        </p:txBody>
      </p:sp>
    </p:spTree>
    <p:extLst>
      <p:ext uri="{BB962C8B-B14F-4D97-AF65-F5344CB8AC3E}">
        <p14:creationId xmlns:p14="http://schemas.microsoft.com/office/powerpoint/2010/main" val="5696019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AE1E63-9D4B-49E0-B0E3-A5083AFA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94D53-3FE3-4EFE-8ADA-15A5CF1D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Three actors cover the core retail and operations workflows.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A59EE-5D41-4165-B230-E2A2100A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4419B-4F4C-4E6E-80BB-7F70FBFE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32194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ECE09-4D15-4A8D-B96F-1AF8E9B0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621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Customer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F39A8-FD29-4AC3-A084-5AE104D0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E94FB-20EA-44D0-ADD5-9E8DFAE8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Sign in with Google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29325-BDAC-436D-9126-5E3F6B5E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BB135-35AB-43AD-97DA-780EC6D7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242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Browse and search products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8AB70-06EB-40E6-952F-69B756D5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E072FC-83DC-4023-8698-B8BEC339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Manage cart and checkout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E611C0-D458-434F-AB0A-31B52D01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2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CB2DC2-3486-4DC7-BD10-E6802F7D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291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View order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57E37-9A56-4A61-8CA4-02438B30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95450"/>
            <a:ext cx="32194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0E0AD8-E235-42D6-9952-BE1194DE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621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819139-E1C5-4E08-911B-27B60E70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67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882072-0489-451E-A4DF-56F74A13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717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Open Enterprise Data Viewer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8154B2-28AC-4511-A9B5-10BCDEF4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DD2E59-0B89-421D-A1BB-25C2552E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242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Search products, customers, orders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33F9F5-A119-4585-A9DB-1519A6D2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71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FC977C-6A73-4DEE-8579-C91FCBA7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766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Add and delete catalog items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6B7811-FB9F-46F1-9CE3-FAF9412E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2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5673CD-B857-411D-8957-6066BD2B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291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Review revenue summary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65977D-7C53-4EA3-AE53-5AD6A003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95450"/>
            <a:ext cx="32194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51902C-C047-4653-A129-5A65AF89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621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System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840B2A-71EC-4566-99A4-5AFD9AEA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67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1DB962-1E85-4298-B073-7622BAEC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717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Verify JWT on service calls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2532FC-C12A-4E9C-AC5B-73CB1D05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9D0F69-BC56-4FF6-8D8E-1CE515F9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242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Route APIs through ALB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F31A23-F114-4627-BBEF-EF8EF1BC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71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499A43-951A-4674-857E-404F1378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766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Persist data in PostgreSQL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BC5F36-6D16-4648-BB0A-B0FF69DE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2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8EB8DB-43D2-4F51-B575-A246E2D9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291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Cache carts in Redis</a:t>
            </a:r>
          </a:p>
        </p:txBody>
      </p:sp>
    </p:spTree>
    <p:extLst>
      <p:ext uri="{BB962C8B-B14F-4D97-AF65-F5344CB8AC3E}">
        <p14:creationId xmlns:p14="http://schemas.microsoft.com/office/powerpoint/2010/main" val="8481475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64A4EC-29A5-4574-8A4D-01525016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019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0B514-EE34-4272-8CFF-EBD2E364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Each service owns one responsibility in the shopping workflow.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1889E-B44A-4FB3-84F1-378DCECD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3AAF3-3FD7-4464-AEBD-3CB141EB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38E7D-099B-4A25-94CB-CEAD38B6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697CC-A73A-4F49-B5FF-5C46B929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733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Vue 3 UI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9A22C-29CA-4400-86D9-2CD42A9C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1733550" cy="30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Customer/admin SPA served by nginx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B1E7F-6FC6-48A5-B004-9D02C1F1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145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D8970-CB78-4E89-97CE-41343788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145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B11C7F-4724-4638-97DD-59C56940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09750"/>
            <a:ext cx="1733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Enterprise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86773-1F57-4BA1-BE4D-5CA6BE32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33600"/>
            <a:ext cx="1733550" cy="30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OAuth, JWT, RBAC, admin APIs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1EE503-0FF8-4395-A66B-3622F9DA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003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BBD6F2-0B1D-42CD-84BE-1775431D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003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A0528B-3A84-4031-B5C4-13C60615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95600"/>
            <a:ext cx="1733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Catalog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6726ED-4511-41BC-9320-8568920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19450"/>
            <a:ext cx="1733550" cy="30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Products, tags, admin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75C8D7-34CA-4CAF-A180-F5FBC425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862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B8657D-6EAF-428F-BD8A-E945F08D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862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BEC307-4792-498E-A333-7346B602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81450"/>
            <a:ext cx="1733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Cart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0C1DEA-D55D-4472-811A-39007D40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305300"/>
            <a:ext cx="1733550" cy="30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Redis-backed cart CRUD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2A55DE-0262-4E82-B956-984A4359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03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A9B6E2-F7A7-4AF2-9A01-BF48F126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03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F39CCF-2ABE-4404-8E85-0116E30B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95600"/>
            <a:ext cx="1733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Checkout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C39F45-3083-4ADF-A615-BE68FA2E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9450"/>
            <a:ext cx="1733550" cy="30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Cart -&gt; order orchestration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69EA76-B8A0-41DB-8E4B-95510353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03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60689D-99C0-4A92-A82A-2A95CF59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03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E45E1F-505D-4165-83AD-D01E2CC7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95600"/>
            <a:ext cx="1733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Orders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600A9B-FD0A-4959-9627-0EAE8A26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19450"/>
            <a:ext cx="1733550" cy="30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History, details, shipping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2667000" y="2171700"/>
            <a:ext cx="762000" cy="-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4"/>
            </a:solidFill>
          </a:ln>
        </p:spPr>
      </p:cxnSp>
      <p:cxnSp>
        <p:nvCxnSpPr>
          <p:cNvPr id="29" name=""/>
          <p:cNvCxnSpPr/>
          <p:nvPr/>
        </p:nvCxnSpPr>
        <p:spPr>
          <a:xfrm xmlns:a="http://schemas.openxmlformats.org/drawingml/2006/main">
            <a:off x="2667000" y="2171700"/>
            <a:ext cx="762000" cy="10382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4"/>
            </a:solidFill>
          </a:ln>
        </p:spPr>
      </p:cxnSp>
      <p:cxnSp>
        <p:nvCxnSpPr>
          <p:cNvPr id="30" name=""/>
          <p:cNvCxnSpPr/>
          <p:nvPr/>
        </p:nvCxnSpPr>
        <p:spPr>
          <a:xfrm xmlns:a="http://schemas.openxmlformats.org/drawingml/2006/main">
            <a:off x="2667000" y="2171700"/>
            <a:ext cx="762000" cy="2124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4"/>
            </a:solidFill>
          </a:ln>
        </p:spPr>
      </p:cxnSp>
      <p:cxnSp>
        <p:nvCxnSpPr>
          <p:cNvPr id="31" name=""/>
          <p:cNvCxnSpPr/>
          <p:nvPr/>
        </p:nvCxnSpPr>
        <p:spPr>
          <a:xfrm xmlns:a="http://schemas.openxmlformats.org/drawingml/2006/main">
            <a:off x="5429250" y="4295775"/>
            <a:ext cx="762000" cy="-10858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C2626"/>
            </a:solidFill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8191500" y="32099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C2626"/>
            </a:solidFill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B8101E-78F4-4DE4-97C4-3E73EE17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3429000" cy="495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Checkout is the only service that calls other services directly.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006E0C-2916-409B-BBF8-39464993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53000"/>
            <a:ext cx="2333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AAED23-28A5-4935-9808-BF091E0A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530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F50B91-B14A-448B-AF63-F71C39DA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48250"/>
            <a:ext cx="2066925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PostgreSQL x3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3E3DBC-F5CE-4F4B-8DCC-874EA890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72100"/>
            <a:ext cx="2066925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enterprise, catalog, orders data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9C3F63-ADE3-4037-BE4F-E8BC1220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530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D9B023-EEFC-4ADC-A135-67C2D3BE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530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E9CC2B-2B27-417D-96BA-52CD94C7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48250"/>
            <a:ext cx="1352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Redis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CFCABB-19CA-4806-A8CD-BB6E043B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372100"/>
            <a:ext cx="135255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7-day cart TTL</a:t>
            </a:r>
          </a:p>
        </p:txBody>
      </p:sp>
    </p:spTree>
    <p:extLst>
      <p:ext uri="{BB962C8B-B14F-4D97-AF65-F5344CB8AC3E}">
        <p14:creationId xmlns:p14="http://schemas.microsoft.com/office/powerpoint/2010/main" val="118769448"/>
      </p:ext>
    </p:extLst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" name="NimbusCart AWS Architecture Diagram"/>
          <p:cNvPicPr/>
          <p:nvPr/>
        </p:nvPicPr>
        <p:blipFill>
          <a:blip r:embed="rIdCloudArch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9B90E9-A926-4010-8B0A-FF17D844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CI/CD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2C809-7F65-4003-8F86-067CA0C0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A GitHub push can build images and trigger ECS rolling deployments.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783F2-7462-4E65-9CD0-44234887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4424E-E775-4542-8F8A-EE2A6629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1657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BB33F3-CC4A-4EA6-8897-83235613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858FA4-0FED-4D2C-9BF5-0FE43098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GitHub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1DA224-F451-44A3-91FC-EE51F867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47975"/>
            <a:ext cx="139065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Source repo push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2324100" y="28956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4"/>
            </a:solidFill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26836A-44CC-4355-8533-3990715D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28875"/>
            <a:ext cx="1657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543746-6542-4F20-AEB3-529865BC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28875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EAF09-7679-4C11-86B6-E3894472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24125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CodePipeline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BDFDDB-4CD2-410E-B1B0-6A9DC209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47975"/>
            <a:ext cx="139065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Source and build stages</a:t>
            </a:r>
          </a:p>
        </p:txBody>
      </p:sp>
      <p:cxnSp>
        <p:nvCxnSpPr>
          <p:cNvPr id="13" name=""/>
          <p:cNvCxnSpPr/>
          <p:nvPr/>
        </p:nvCxnSpPr>
        <p:spPr>
          <a:xfrm xmlns:a="http://schemas.openxmlformats.org/drawingml/2006/main">
            <a:off x="4514850" y="28956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4"/>
            </a:solidFill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21D548-9B41-45BD-AE8A-A867E38D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28875"/>
            <a:ext cx="1657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51CE15-D776-4257-B4C7-5233638C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28875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E2238-238B-40D8-8129-3BF3E57F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24125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CodeBuild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71244F-DE03-4CCB-AA6D-053AB2CA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47975"/>
            <a:ext cx="139065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Docker build x6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6705600" y="28956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4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B2D409-33D8-4ED0-86BD-FBC9B8C9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28875"/>
            <a:ext cx="1657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C813BF-1355-4A46-BB35-13F535BD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28875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44A60B-EB24-4E4B-8770-C06A0EFB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24125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ECR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739E9D-E63E-4E46-A3A1-7CBABAAE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47975"/>
            <a:ext cx="139065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Commit tag + latest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8896350" y="28956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4"/>
            </a:solidFill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B32DE1-2803-4043-95EB-C0CD0F7E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28875"/>
            <a:ext cx="1657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047992-0D47-4076-8AC7-9DCD3EAF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28875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2B0B00-7169-4E65-A94F-A9A3FF90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24125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ECS Fargate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7179C3-B731-4E7E-BB4B-1828F486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47975"/>
            <a:ext cx="139065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Rolling redeploy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157623-A642-4E00-8592-FAF45473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957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ECR login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F0453E-B3B6-43DA-B60A-74EACD3A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0957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images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0BE10B-A2EE-4F98-B263-FAD674FA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Push images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B3A545-7FDD-4A0F-B36C-4937BE29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957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Force ECS deployment</a:t>
            </a:r>
          </a:p>
        </p:txBody>
      </p:sp>
    </p:spTree>
    <p:extLst>
      <p:ext uri="{BB962C8B-B14F-4D97-AF65-F5344CB8AC3E}">
        <p14:creationId xmlns:p14="http://schemas.microsoft.com/office/powerpoint/2010/main" val="977429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B64519-2B70-4725-8951-620F4897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049C8-DA16-4D77-9E78-D0B367DD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The technology choices match the project’s cloud-service boundaries.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4517D-EAC0-42DF-B61E-27502FAD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AF581-2526-471A-AB34-41FAECEA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8BD8D-3993-453D-8CAA-1EF4F106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19250"/>
            <a:ext cx="7810500" cy="457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Vue 3, Vite, Pinia, Vue Router, Axios</a:t>
            </a:r>
          </a:p>
        </p:txBody>
      </p:sp>
      <p:cxnSp>
        <p:nvCxnSpPr>
          <p:cNvPr id="6" name=""/>
          <p:cNvCxnSpPr/>
          <p:nvPr/>
        </p:nvCxnSpPr>
        <p:spPr>
          <a:xfrm xmlns:a="http://schemas.openxmlformats.org/drawingml/2006/main">
            <a:off x="2333625" y="2152650"/>
            <a:ext cx="8048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1D405-9B2B-4A7F-BD09-A1BDEF83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74BEE-D1F0-426E-8553-AB29F910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62200"/>
            <a:ext cx="7810500" cy="457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Node.js, Express, Passport.js, JWT</a:t>
            </a:r>
          </a:p>
        </p:txBody>
      </p:sp>
      <p:cxnSp>
        <p:nvCxnSpPr>
          <p:cNvPr id="9" name=""/>
          <p:cNvCxnSpPr/>
          <p:nvPr/>
        </p:nvCxnSpPr>
        <p:spPr>
          <a:xfrm xmlns:a="http://schemas.openxmlformats.org/drawingml/2006/main">
            <a:off x="2333625" y="2895600"/>
            <a:ext cx="8048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43A2B9-0B5F-4D6D-A56C-C66EA725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08EBC-30AD-47E6-BDEC-A142A05D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05150"/>
            <a:ext cx="7810500" cy="457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PostgreSQL, Redis</a:t>
            </a:r>
          </a:p>
        </p:txBody>
      </p:sp>
      <p:cxnSp>
        <p:nvCxnSpPr>
          <p:cNvPr id="12" name=""/>
          <p:cNvCxnSpPr/>
          <p:nvPr/>
        </p:nvCxnSpPr>
        <p:spPr>
          <a:xfrm xmlns:a="http://schemas.openxmlformats.org/drawingml/2006/main">
            <a:off x="2333625" y="3638550"/>
            <a:ext cx="8048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87A75-E283-40A1-8463-472FDA60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Cloud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2F65E6-400F-4AD6-A692-D8DFE973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48100"/>
            <a:ext cx="7810500" cy="457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ECS Fargate, ALB, RDS, ElastiCache, ECR, Secrets Manager, CloudWatch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2333625" y="4381500"/>
            <a:ext cx="8048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78E795-89D0-42ED-93CB-2466279B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DevOps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B37C60-5B6E-4A65-AC55-F07B86B4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91050"/>
            <a:ext cx="7810500" cy="457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Docker, Docker Compose, AWS CDK, CodePipeline, CodeBuild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2333625" y="5124450"/>
            <a:ext cx="8048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</a:ln>
        </p:spPr>
      </p:cxnSp>
    </p:spTree>
    <p:extLst>
      <p:ext uri="{BB962C8B-B14F-4D97-AF65-F5344CB8AC3E}">
        <p14:creationId xmlns:p14="http://schemas.microsoft.com/office/powerpoint/2010/main" val="9865743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8BE814-C54A-4EC7-AD64-2033C26D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F88EA-5BD9-45AC-8D73-9AD223DB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The demo follows the customer journey, then switches to admin controls.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960F9-8165-47EB-BB22-3A943964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71850-EAEF-49A4-BE75-CC329540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31A65-84EC-4DE9-BBAA-D0A043CA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28800"/>
            <a:ext cx="4000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01C069-7F43-447B-90D0-C0050916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28800"/>
            <a:ext cx="1219200" cy="64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Sign in with Google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EAE2C-8C81-452A-8FC0-D21C1346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573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25031F-66DE-4D55-BEC1-A653E524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28800"/>
            <a:ext cx="4000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E249C-AE33-4C82-919D-B6926EA4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28800"/>
            <a:ext cx="1219200" cy="64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Browse catalog and filter products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504BE9-E7D6-4920-9ED7-D7180A3E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573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B109F-967F-47AB-84AC-EAB9A287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28800"/>
            <a:ext cx="4000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83C40-153D-4E39-85CE-5D7A63B0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28800"/>
            <a:ext cx="1219200" cy="64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Add products to cart and update quantity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9AAA95-F9A1-404F-AFCF-5101BFE6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573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197A88-1ECD-45E0-9AEB-D1653B9A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28800"/>
            <a:ext cx="4000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AC5121-BBBE-45A0-AE58-1B6FACAE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28800"/>
            <a:ext cx="1219200" cy="64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Place order with shipping details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1D5AC1-EE83-48D1-9D23-43793991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33725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666FC-91AE-4BEC-A40D-D0E01F1F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4000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24EA86-C107-4E73-AB80-B97960BA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05175"/>
            <a:ext cx="1219200" cy="64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View order history and details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F669E1-8785-41DE-B483-BAA5634E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33725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AB9B45-281D-4DA9-AAEA-15A797A0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05175"/>
            <a:ext cx="4000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723E40-C770-475F-BEF8-35AEBA0E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05175"/>
            <a:ext cx="1219200" cy="64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Open admin Enterprise Data Viewer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484345-0F8E-4C16-932C-EF381310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33725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67C8CB-F84D-4F00-929A-FCA43D85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05175"/>
            <a:ext cx="4000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53000D-825C-4E9B-AA52-82EDE197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05175"/>
            <a:ext cx="1219200" cy="64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Add or delete catalog products</a:t>
            </a:r>
          </a:p>
        </p:txBody>
      </p:sp>
    </p:spTree>
    <p:extLst>
      <p:ext uri="{BB962C8B-B14F-4D97-AF65-F5344CB8AC3E}">
        <p14:creationId xmlns:p14="http://schemas.microsoft.com/office/powerpoint/2010/main" val="11486768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D0FCDB-1564-45CF-9B15-8D762D1B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6B446-05CB-41FB-BCAE-DE6F5F24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The interesting work was deciding where each responsibility should live.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4C74B-0B6C-41EA-8F67-3336D595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FB321-FD78-4A1C-847E-C061DA3C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32385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71A69-BCBB-46AB-8F45-214A2D91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478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Service boundaries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52FC2-04EE-4E12-BD1C-279137B2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F51E2-1D3C-49CE-975C-BCC375C5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574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Catalog owns product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6B4FA-F9F9-451C-B1E8-731B9010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64482-BCCA-4F4E-8C4A-01A92CF0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718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Cart uses Redis TTL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ADCE12-BAE7-4F9A-91FB-DD5DCC9D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AD9198-1358-42F4-92A4-CA60C159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861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Checkout orchestrates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156592-3FF6-4353-9E45-05AC606F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95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CC26F7-143D-475D-867A-0E6FAF36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Orders stores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FAE6C1-088F-4B8F-9D3D-233B284B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71625"/>
            <a:ext cx="32385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48F39F-BE19-4776-BCD6-4FF945CA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478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Security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F5DF3B-C556-4906-B7F9-EFE6AF53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BA8332-1131-4151-82EA-1B363423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574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Google OAuth starts login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6EF0B1-D62E-480A-8878-E9E05DD7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43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1EB191-B658-48C4-B321-28232C82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480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JWT travels to each 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32F98B-A67A-45C6-8BD3-250C9A56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6683F2-5182-4BDE-A6CB-DAFE9D66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385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Admin role gates data views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FAB13E-0317-46BC-BC9F-6D3BB8A1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71625"/>
            <a:ext cx="32385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3104F8-8086-43C8-8A75-F3D9685F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478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Cloud choices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9400B2-D77B-4635-B320-AAF08104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95CF26-60B3-45B8-B6DA-AD52CFD6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ALB keeps one public entry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813131-1FE8-4EE7-81A8-4D52F62F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43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E42302-FFA8-40FB-A1AB-7608B70F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480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Fargate runs containers privately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362F7E-A698-4F10-8919-971DB6A1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33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827162-8F49-459E-9130-4D341EF5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385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CDK rebuilds infrastructure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D182C3-EA8C-4905-AE0F-1EFB1F4F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2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D0DDA4-0EAF-447D-8520-40457B3E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291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CodeBuild pushes every image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3BD7DB-3775-4B35-8437-CA10EEE5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914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A1A1A8-E59E-4A3B-BE81-0D140E09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196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Secrets stay out of code</a:t>
            </a:r>
          </a:p>
        </p:txBody>
      </p:sp>
    </p:spTree>
    <p:extLst>
      <p:ext uri="{BB962C8B-B14F-4D97-AF65-F5344CB8AC3E}">
        <p14:creationId xmlns:p14="http://schemas.microsoft.com/office/powerpoint/2010/main" val="15468729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2BA346-BDAC-437C-B19F-E82B287B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06CFB-C159-4180-B4E9-13E1C232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NimbusCart demonstrates a secure, cloud-native retail platform.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C389C-4C44-4D1D-AE48-722A53FE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AEF15-C356-47AD-9FCE-93C27FA3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53340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Secure customer and admin workflows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65CFA-1A7D-4C32-AFCA-079A631C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53340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AWS-managed infrastructure and automated deployment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F48E0-FBB5-4CC7-9E3F-88F47CD7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53340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A foundation that can evolve toward production-grade retail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78598-9E7E-4ECD-9D59-A123C593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428750"/>
            <a:ext cx="38576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83828-AE4D-41AC-89F9-4FF89D32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695450"/>
            <a:ext cx="23812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References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6103D-E260-4C73-8358-C3B267FF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90750"/>
            <a:ext cx="3143250" cy="495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NimbusCart README.md and infrastructure/lib/nimbuscart-stack.ts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8B245-E54D-4E80-872D-9CDE89F6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00350"/>
            <a:ext cx="3143250" cy="495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U.S. Census Bureau, Quarterly Retail E-Commerce Sales, Q4 2025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24DFBA-41E3-4340-9139-CB79383D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09950"/>
            <a:ext cx="3143250" cy="495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AWS documentation: ECS, ALB, RDS, ECR, Secrets Manager, CodePipeline, CodeBuild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B199CD-1361-4111-8E1E-3D0A5C21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19550"/>
            <a:ext cx="3143250" cy="495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Google OAuth 2.0 documentation</a:t>
            </a:r>
          </a:p>
        </p:txBody>
      </p:sp>
    </p:spTree>
    <p:extLst>
      <p:ext uri="{BB962C8B-B14F-4D97-AF65-F5344CB8AC3E}">
        <p14:creationId xmlns:p14="http://schemas.microsoft.com/office/powerpoint/2010/main" val="19321064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2026-05-07T06:20:37.6140000Z</dcterms:created>
  <dcterms:modified xsi:type="dcterms:W3CDTF">2026-05-07T06:20:37.6140000Z</dcterms:modified>
</coreProperties>
</file>