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84f198bd3548da" /><Relationship Type="http://schemas.openxmlformats.org/officeDocument/2006/relationships/extended-properties" Target="/docProps/app.xml" Id="R5763cb990f12448f" /><Relationship Type="http://schemas.openxmlformats.org/officeDocument/2006/relationships/officeDocument" Target="/ppt/presentation.xml" Id="R81ba4d219aa44d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26d7627c9a41b9"/>
  </p:sldMasterIdLst>
  <p:notesMasterIdLst>
    <p:notesMasterId xmlns:r="http://schemas.openxmlformats.org/officeDocument/2006/relationships" r:id="R02abb2cc69884c3d"/>
  </p:notesMasterIdLst>
  <p:sldIdLst>
    <p:sldId xmlns:r="http://schemas.openxmlformats.org/officeDocument/2006/relationships" id="256" r:id="R648ecebe992849f4"/>
    <p:sldId xmlns:r="http://schemas.openxmlformats.org/officeDocument/2006/relationships" id="257" r:id="R69a39fd985264bee"/>
    <p:sldId xmlns:r="http://schemas.openxmlformats.org/officeDocument/2006/relationships" id="258" r:id="Ra6a1ac4e4aee49a5"/>
    <p:sldId xmlns:r="http://schemas.openxmlformats.org/officeDocument/2006/relationships" id="259" r:id="Rd9dcc0fcc8bd4f99"/>
    <p:sldId xmlns:r="http://schemas.openxmlformats.org/officeDocument/2006/relationships" id="260" r:id="Re23fb601dfdd48da"/>
    <p:sldId xmlns:r="http://schemas.openxmlformats.org/officeDocument/2006/relationships" id="261" r:id="R2d84ca1843384d98"/>
    <p:sldId xmlns:r="http://schemas.openxmlformats.org/officeDocument/2006/relationships" id="262" r:id="Re73cfcbaa8e940b7"/>
    <p:sldId xmlns:r="http://schemas.openxmlformats.org/officeDocument/2006/relationships" id="263" r:id="Rcc26ead7ecbc4ea5"/>
    <p:sldId xmlns:r="http://schemas.openxmlformats.org/officeDocument/2006/relationships" id="264" r:id="R79df17dc55ad44e3"/>
    <p:sldId xmlns:r="http://schemas.openxmlformats.org/officeDocument/2006/relationships" id="265" r:id="Rd5991225a6b94c99"/>
    <p:sldId xmlns:r="http://schemas.openxmlformats.org/officeDocument/2006/relationships" id="266" r:id="R9920653eaffe47a7"/>
    <p:sldId xmlns:r="http://schemas.openxmlformats.org/officeDocument/2006/relationships" id="267" r:id="Rc1080462b36040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6d7627c9a41b9" /><Relationship Type="http://schemas.openxmlformats.org/officeDocument/2006/relationships/theme" Target="/ppt/theme/theme1.xml" Id="Rbcdbbd59839640d4" /><Relationship Type="http://schemas.openxmlformats.org/officeDocument/2006/relationships/notesMaster" Target="/ppt/notesMasters/notesMaster1.xml" Id="R02abb2cc69884c3d" /><Relationship Type="http://schemas.openxmlformats.org/officeDocument/2006/relationships/presProps" Target="/ppt/presProps.xml" Id="R7cb89d1a49344c26" /><Relationship Type="http://schemas.openxmlformats.org/officeDocument/2006/relationships/viewProps" Target="/ppt/viewProps.xml" Id="Rdb0bc388d74c4796" /><Relationship Type="http://schemas.openxmlformats.org/officeDocument/2006/relationships/tableStyles" Target="/ppt/tableStyles.xml" Id="R9359583d24d441af" /><Relationship Type="http://schemas.openxmlformats.org/officeDocument/2006/relationships/slide" Target="/ppt/slides/slide1.xml" Id="R648ecebe992849f4" /><Relationship Type="http://schemas.openxmlformats.org/officeDocument/2006/relationships/slide" Target="/ppt/slides/slide2.xml" Id="R69a39fd985264bee" /><Relationship Type="http://schemas.openxmlformats.org/officeDocument/2006/relationships/slide" Target="/ppt/slides/slide3.xml" Id="Ra6a1ac4e4aee49a5" /><Relationship Type="http://schemas.openxmlformats.org/officeDocument/2006/relationships/slide" Target="/ppt/slides/slide4.xml" Id="Rd9dcc0fcc8bd4f99" /><Relationship Type="http://schemas.openxmlformats.org/officeDocument/2006/relationships/slide" Target="/ppt/slides/slide5.xml" Id="Re23fb601dfdd48da" /><Relationship Type="http://schemas.openxmlformats.org/officeDocument/2006/relationships/slide" Target="/ppt/slides/slide6.xml" Id="R2d84ca1843384d98" /><Relationship Type="http://schemas.openxmlformats.org/officeDocument/2006/relationships/slide" Target="/ppt/slides/slide7.xml" Id="Re73cfcbaa8e940b7" /><Relationship Type="http://schemas.openxmlformats.org/officeDocument/2006/relationships/slide" Target="/ppt/slides/slide8.xml" Id="Rcc26ead7ecbc4ea5" /><Relationship Type="http://schemas.openxmlformats.org/officeDocument/2006/relationships/slide" Target="/ppt/slides/slide9.xml" Id="R79df17dc55ad44e3" /><Relationship Type="http://schemas.openxmlformats.org/officeDocument/2006/relationships/slide" Target="/ppt/slides/slide10.xml" Id="Rd5991225a6b94c99" /><Relationship Type="http://schemas.openxmlformats.org/officeDocument/2006/relationships/slide" Target="/ppt/slides/slide11.xml" Id="R9920653eaffe47a7" /><Relationship Type="http://schemas.openxmlformats.org/officeDocument/2006/relationships/slide" Target="/ppt/slides/slide12.xml" Id="Rc1080462b360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6e589d158d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2e19f472446f5" /><Relationship Type="http://schemas.openxmlformats.org/officeDocument/2006/relationships/notesMaster" Target="/ppt/notesMasters/notesMaster1.xml" Id="R8088c492cef34c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3f7b76fcf0436f" /><Relationship Type="http://schemas.openxmlformats.org/officeDocument/2006/relationships/notesMaster" Target="/ppt/notesMasters/notesMaster1.xml" Id="Rba937844c5144a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f7ed82ac0f4356" /><Relationship Type="http://schemas.openxmlformats.org/officeDocument/2006/relationships/notesMaster" Target="/ppt/notesMasters/notesMaster1.xml" Id="R0c21bf1d971647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77e4b6f50941e1" /><Relationship Type="http://schemas.openxmlformats.org/officeDocument/2006/relationships/notesMaster" Target="/ppt/notesMasters/notesMaster1.xml" Id="Ra821cad13fc245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b0c3aef864f0e" /><Relationship Type="http://schemas.openxmlformats.org/officeDocument/2006/relationships/notesMaster" Target="/ppt/notesMasters/notesMaster1.xml" Id="R12a117667a3342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3d978337c46ed" /><Relationship Type="http://schemas.openxmlformats.org/officeDocument/2006/relationships/notesMaster" Target="/ppt/notesMasters/notesMaster1.xml" Id="Rd768a4b3121547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27b7df9f264d39" /><Relationship Type="http://schemas.openxmlformats.org/officeDocument/2006/relationships/notesMaster" Target="/ppt/notesMasters/notesMaster1.xml" Id="R484e6850299645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6a91f3b38d4e60" /><Relationship Type="http://schemas.openxmlformats.org/officeDocument/2006/relationships/notesMaster" Target="/ppt/notesMasters/notesMaster1.xml" Id="R8cfe212e517542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089adfc404484c" /><Relationship Type="http://schemas.openxmlformats.org/officeDocument/2006/relationships/notesMaster" Target="/ppt/notesMasters/notesMaster1.xml" Id="Ra8050c4603424c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53ccdfae8f4732" /><Relationship Type="http://schemas.openxmlformats.org/officeDocument/2006/relationships/notesMaster" Target="/ppt/notesMasters/notesMaster1.xml" Id="R8206cf9d212843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c9a96b73cc4606" /><Relationship Type="http://schemas.openxmlformats.org/officeDocument/2006/relationships/notesMaster" Target="/ppt/notesMasters/notesMaster1.xml" Id="R02bb9ba926f343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4245d439f04ff9" /><Relationship Type="http://schemas.openxmlformats.org/officeDocument/2006/relationships/notesMaster" Target="/ppt/notesMasters/notesMaster1.xml" Id="R68b430a25628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d478d411745c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d6b6f761bf74ecb" /><Relationship Type="http://schemas.openxmlformats.org/officeDocument/2006/relationships/slideLayout" Target="/ppt/slideLayouts/slideLayout2.xml" Id="Rc90365e796654d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0365e796654d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5e75cb1d6470a" /><Relationship Type="http://schemas.openxmlformats.org/officeDocument/2006/relationships/notesSlide" Target="/ppt/notesSlides/notesSlide1.xml" Id="R47d18d0f434545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62d8add7a64a70" /><Relationship Type="http://schemas.openxmlformats.org/officeDocument/2006/relationships/notesSlide" Target="/ppt/notesSlides/notesSlide2.xml" Id="Rafc528d7e4ac46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0b35b7d014a56" /><Relationship Type="http://schemas.openxmlformats.org/officeDocument/2006/relationships/notesSlide" Target="/ppt/notesSlides/notesSlide3.xml" Id="R954303ac666440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795ad3b864f43" /><Relationship Type="http://schemas.openxmlformats.org/officeDocument/2006/relationships/notesSlide" Target="/ppt/notesSlides/notesSlide4.xml" Id="R49faabccbb6e45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f08ca4e844fa8" /><Relationship Type="http://schemas.openxmlformats.org/officeDocument/2006/relationships/notesSlide" Target="/ppt/notesSlides/notesSlide5.xml" Id="Re054cc97317647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554718b6249af" /><Relationship Type="http://schemas.openxmlformats.org/officeDocument/2006/relationships/notesSlide" Target="/ppt/notesSlides/notesSlide6.xml" Id="Rc89aa26c9a5243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4473ab0934133" /><Relationship Type="http://schemas.openxmlformats.org/officeDocument/2006/relationships/notesSlide" Target="/ppt/notesSlides/notesSlide7.xml" Id="Rf222481910fa44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b7978812fd46dc" /><Relationship Type="http://schemas.openxmlformats.org/officeDocument/2006/relationships/notesSlide" Target="/ppt/notesSlides/notesSlide8.xml" Id="R377d9400f7f04a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35d98c2564f49" /><Relationship Type="http://schemas.openxmlformats.org/officeDocument/2006/relationships/notesSlide" Target="/ppt/notesSlides/notesSlide9.xml" Id="Rebc2719c4fe042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5d067eff249a2" /><Relationship Type="http://schemas.openxmlformats.org/officeDocument/2006/relationships/notesSlide" Target="/ppt/notesSlides/notesSlide10.xml" Id="R169e27ded8064e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f6a57382e4b44" /><Relationship Type="http://schemas.openxmlformats.org/officeDocument/2006/relationships/notesSlide" Target="/ppt/notesSlides/notesSlide11.xml" Id="R5684ce3f53ea46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6f5e00384e4c89" /><Relationship Type="http://schemas.openxmlformats.org/officeDocument/2006/relationships/notesSlide" Target="/ppt/notesSlides/notesSlide12.xml" Id="Rcb7fe91d93f140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3B63F-9830-49EE-B533-BE09301F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AC684-EB3A-4489-A35B-A2C65A60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02D19-CBCC-444F-925D-962C4963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D8DDE6"/>
            </a:solidFill>
          </a:ln>
        </p:spPr>
      </p:sp>
      <p:cxnSp>
        <p:nvCxnSpPr>
          <p:cNvPr id="4" name=""/>
          <p:cNvCxnSpPr/>
          <p:nvPr/>
        </p:nvCxn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34155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940AA-503A-47DD-A6B6-AB7A644F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81025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NimbusCart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9EB94-4105-4911-8956-BB937A94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8102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Cloud-Native Retail and Enterprise Data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D6FC6-FDF8-4169-AC2A-1684B5C0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CMPE-282: Cloud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D00C4-7AAE-4B81-9EC9-5ADFFDD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4000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Team: cloud9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1B9DE-1BF1-45EE-84C8-E1770D85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3143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D6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DD6E9"/>
                </a:solidFill>
                <a:latin typeface="Aptos"/>
                <a:ea typeface="Aptos"/>
                <a:cs typeface="Aptos"/>
              </a:rPr>
              <a:t>Team members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19C38-61A6-40DF-824B-A84BD648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43100"/>
            <a:ext cx="3238500" cy="152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Akshay Sunil Navani, Atharva Kulkarni, Joshini Naagraaj, Shantanu Zadbuke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1C97D-4771-4DF0-BF98-6C65B0A7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672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8719D-DB9E-42C5-A383-9EBA6E34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148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D57D0-19AA-4C6E-B918-CDBCAEE6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768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B8B46-EF73-46A6-8634-DF4A383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244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PostgreSQL DBs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B9AFF-837B-4E83-AD28-1A2E00E7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864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C2A07-1EC6-4EB6-A9F5-A1F3EA90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340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Redis cache</a:t>
            </a:r>
          </a:p>
        </p:txBody>
      </p:sp>
    </p:spTree>
    <p:extLst>
      <p:ext uri="{BB962C8B-B14F-4D97-AF65-F5344CB8AC3E}">
        <p14:creationId xmlns:p14="http://schemas.microsoft.com/office/powerpoint/2010/main" val="505182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EAE65-7DF7-4F51-995F-BCD73866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31BCA-73BB-4E6B-AFA7-0ECE196A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NimbusCart connects retail shopping with enterprise visibility.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7B8BB-FF6C-456C-9C46-F9B4721B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D752F-5A1D-4229-A1FD-3E8D0344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 course project that turns a retail app into a secure cloud services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A17F2-B291-4F12-8943-C1592392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9AF67-E19A-4797-B730-8B26F2AE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192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Microservices-based e-commerce and enterprise data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7B104-B135-4788-BFC7-83029121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3A08A-C3E2-4F14-B6F1-5945FD3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Customer flows: catalog, cart, checkout, order tracking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1B075-F5E2-47B4-8A50-848D30E3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E989A-2C73-43FD-A582-6C508B4F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 flows: enterprise data viewer and catalog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18D3D-3C60-4CA0-9403-B6306B95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A6C4F-9CF2-4AA7-AEBA-DD7C752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7660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Secure access with Google OAuth 2.0, JWT, and RBAC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5FA22-EE25-402E-A238-9542E65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8E83C-BB73-4896-AB67-A5C05D9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Built for AWS deployment with containerized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39C42-0548-4C7C-9320-0CC4F82A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048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2E1FA-04F3-4BF2-95B5-021CC29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28625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Customer portal + admin portal + AWS deployment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FAF21-5294-47E0-8B82-A6EF94E8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09575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same app demonstrates shopping workflows, protected enterprise views, and cloud-native operations.</a:t>
            </a:r>
          </a:p>
        </p:txBody>
      </p:sp>
    </p:spTree>
    <p:extLst>
      <p:ext uri="{BB962C8B-B14F-4D97-AF65-F5344CB8AC3E}">
        <p14:creationId xmlns:p14="http://schemas.microsoft.com/office/powerpoint/2010/main" val="1568043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ADCB09-9F59-4D1E-864C-479BD41D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C869C-7418-4752-98DB-293427B0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Retail needs secure systems that scale with online demand.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2C3BB-A5B0-4C9B-8FD2-F969A344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04642-77C4-4A12-B16A-646D6779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6671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226C3-EF5D-44EE-8C5F-07901F8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95275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$316.1B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6592A-8991-4FD7-A951-9C9BAEEF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714625" cy="60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U.S. retail e-commerce sales in Q4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FC249-BF2C-455D-A604-A5AE72C1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476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Source: U.S. Census Bureau, Quarterly Retail E-Commerce Sales, Mar. 10,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58CF0-2F60-47AB-8201-1755F81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0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C660C-1C20-446E-9F7A-3B2453F3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80975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Operational teams need product, customer, and order visibility in one protected portal.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51FD7-0AF8-4232-BF90-2B65E664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9AC56-0760-476D-ABC3-051CA209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1460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Customers and admins share business data, but require different permissions.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80E4F-0586-498B-A5A2-8B67D3A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96197-A949-40A8-96BB-86BF5E3A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1945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Monolithic designs make cart, catalog, checkout, and analytics harder to scale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911284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432711-EBBD-42EE-8659-361B5734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DIFFERENTIATORS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27A9D-E3C4-4594-BBF3-2FB11023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NimbusCart is built as a deployable cloud system, not just a demo UI.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BF328-C09F-40B7-BBF2-EF13FB7D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50DAF-41AA-418E-AD54-23E53081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5E886-E07E-42E0-AD1E-88855E5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F1FE1-E569-485C-B675-832AE2B6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Service isolation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E0227-1A9D-4CEA-B778-43425A1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Six independently deployable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3D23E-656A-465C-BDC0-C70B256D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73263-26F6-4FA1-9CFB-5018220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C7151-D816-49D6-BC46-B9D70D0F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1450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Federated auth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B020F-C16C-4805-A4B2-4624B51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3835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Google login avoids custom password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B7F7A-76AC-4AE2-A8D4-A84645AD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E2493-1A1C-491E-803C-B34EDA3A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B3938-3D48-4795-A55A-2E0FDFA9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Role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B0B81-559E-4E57-B39B-6BD348D4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RBAC enforced in backend and frontend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AC6C5-3201-4646-B198-D9937927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2394E-F979-4257-823C-3577C3DF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46773-20E0-4E3A-8B1A-0D8CEB2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1462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Fast cart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0DE76-F6D4-44C1-B6B0-E5DF5415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3847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Redis stores temporary cart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7B3A8-CA7C-41B6-BFAF-23E75E0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F32E3-5B70-4BD3-9816-ECCBBB7A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B144E-D234-44F4-ADA8-B3BCA304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Workflow orchestration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3989C-712F-4A98-993F-457ADDAA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Checkout calls cart, orders, then clears cart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6D3CB-6519-4006-9218-C045169C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1950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BC3BC-1204-40AD-A9DE-78DDF8D5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19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222D6-8AEB-4302-97ED-FD43D614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1475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Repeatable cloud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B9659-31AE-4AE2-A0AF-2DF10D12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AWS CDK defines infrastructure as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5553A-7505-4585-8532-33D71DA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21EF8-1BF4-40FC-B68F-943135C0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C7A79-DEF0-45F0-8C4E-CC567F4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Automated releases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AD3D95-5D2C-4D20-B9CE-F09EDB48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AWS-native CI/CD builds and redeploys services</a:t>
            </a:r>
          </a:p>
        </p:txBody>
      </p:sp>
    </p:spTree>
    <p:extLst>
      <p:ext uri="{BB962C8B-B14F-4D97-AF65-F5344CB8AC3E}">
        <p14:creationId xmlns:p14="http://schemas.microsoft.com/office/powerpoint/2010/main" val="569601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E1E63-9D4B-49E0-B0E3-A5083AF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94D53-3FE3-4EFE-8ADA-15A5CF1D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Three actors cover the core retail and operations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A59EE-5D41-4165-B230-E2A2100A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4419B-4F4C-4E6E-80BB-7F70FBFE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ECE09-4D15-4A8D-B96F-1AF8E9B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F39A8-FD29-4AC3-A084-5AE104D0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E94FB-20EA-44D0-ADD5-9E8DFAE8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Sign in with Google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29325-BDAC-436D-9126-5E3F6B5E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BB135-35AB-43AD-97DA-780EC6D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Browse and search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8AB70-06EB-40E6-952F-69B756D5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072FC-83DC-4023-8698-B8BEC339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Manage cart and checkout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611C0-D458-434F-AB0A-31B52D01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B2DC2-3486-4DC7-BD10-E6802F7D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View order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7E37-9A56-4A61-8CA4-02438B30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E0AD8-E235-42D6-9952-BE1194DE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19139-E1C5-4E08-911B-27B60E70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82072-0489-451E-A4DF-56F74A13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 Enterprise Data 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154B2-28AC-4511-A9B5-10BCDEF4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D2E59-0B89-421D-A1BB-25C2552E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Search products, customers, 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3F9F5-A119-4585-A9DB-1519A6D2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C977C-6A73-4DEE-8579-C91FCBA7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and delete catalog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B7811-FB9F-46F1-9CE3-FAF9412E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673CD-B857-411D-8957-6066BD2B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Review revenue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5977D-7C53-4EA3-AE53-5AD6A00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1902C-C047-4653-A129-5A65AF8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40B2A-71EC-4566-99A4-5AFD9AEA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DB962-1E85-4298-B073-7622BAEC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Verify JWT on service calls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532FC-C12A-4E9C-AC5B-73CB1D0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9D0F69-BC56-4FF6-8D8E-1CE515F9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Route APIs through ALB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F31A23-F114-4627-BBEF-EF8EF1B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99A43-951A-4674-857E-404F1378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Persist data in 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BC5F36-6D16-4648-BB0A-B0FF69D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EB8DB-43D2-4F51-B575-A246E2D9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Cache carts in Redis</a:t>
            </a:r>
          </a:p>
        </p:txBody>
      </p:sp>
    </p:spTree>
    <p:extLst>
      <p:ext uri="{BB962C8B-B14F-4D97-AF65-F5344CB8AC3E}">
        <p14:creationId xmlns:p14="http://schemas.microsoft.com/office/powerpoint/2010/main" val="848147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4A4EC-29A5-4574-8A4D-01525016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0B514-EE34-4272-8CFF-EBD2E364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Each service owns one responsibility in the shopping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1889E-B44A-4FB3-84F1-378DCECD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3AAF3-3FD7-4464-AEBD-3CB141E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38E7D-099B-4A25-94CB-CEAD38B6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697CC-A73A-4F49-B5FF-5C46B929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3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9A22C-29CA-4400-86D9-2CD42A9C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Customer/admin SPA served by nginx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B1E7F-6FC6-48A5-B004-9D02C1F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D8970-CB78-4E89-97CE-4134378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11C7F-4724-4638-97DD-59C56940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86773-1F57-4BA1-BE4D-5CA6BE32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OAuth, JWT, RBAC, admin APIs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EE503-0FF8-4395-A66B-3622F9DA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BD6F2-0B1D-42CD-84BE-1775431D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0528B-3A84-4031-B5C4-13C6061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726ED-4511-41BC-9320-8568920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Products, tags, admin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5C8D7-34CA-4CAF-A180-F5FBC425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8657D-6EAF-428F-BD8A-E945F08D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EC307-4792-498E-A333-7346B60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8145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C1DEA-D55D-4472-811A-39007D4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0530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Redis-backed cart CRUD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A55DE-0262-4E82-B956-984A4359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9B6E2-F7A7-4AF2-9A01-BF48F126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39CCF-2ABE-4404-8E85-0116E30B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39F45-3083-4ADF-A615-BE68FA2E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Cart -&gt; order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9EA76-B8A0-41DB-8E4B-95510353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0689D-99C0-4A92-A82A-2A95CF5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45E1F-505D-4165-83AD-D01E2CC7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00A9B-FD0A-4959-9627-0EAE8A26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History, details, shipping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667000" y="2171700"/>
            <a:ext cx="762000" cy="-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2667000" y="2171700"/>
            <a:ext cx="7620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2667000" y="2171700"/>
            <a:ext cx="762000" cy="2124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429250" y="4295775"/>
            <a:ext cx="762000" cy="-1085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2626"/>
            </a:solidFill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191500" y="32099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2626"/>
            </a:solidFill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B8101E-78F4-4DE4-97C4-3E73EE17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342900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Checkout is the only service that calls other services directly.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06E0C-2916-409B-BBF8-3946499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AAED23-28A5-4935-9808-BF091E0A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50B91-B14A-448B-AF63-F71C39D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48250"/>
            <a:ext cx="2066925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 x3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3E3DBC-F5CE-4F4B-8DCC-874EA890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72100"/>
            <a:ext cx="2066925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enterprise, catalog, orders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9C3F63-ADE3-4037-BE4F-E8BC122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D9B023-EEFC-4ADC-A135-67C2D3B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E9CC2B-2B27-417D-96BA-52CD94C7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48250"/>
            <a:ext cx="1352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CFCABB-19CA-4806-A8CD-BB6E043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1352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7-day cart TTL</a:t>
            </a:r>
          </a:p>
        </p:txBody>
      </p:sp>
    </p:spTree>
    <p:extLst>
      <p:ext uri="{BB962C8B-B14F-4D97-AF65-F5344CB8AC3E}">
        <p14:creationId xmlns:p14="http://schemas.microsoft.com/office/powerpoint/2010/main" val="118769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98D167-F5DA-4B8D-8DF2-835B2512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AWS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68E17-9515-4CA0-B9D2-64F06C78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AWS keeps public routing separate from private service and data tiers.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73A90-4375-4832-9CD5-030950CD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B76AA-7641-412D-AE17-3A5778B1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425E2-7487-4C65-92F1-4890492B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F72E5-E8E0-4771-A17E-2D6CD50C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2573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Internet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E9E06-7FAE-4430-87D6-989A9AE2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2573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Browser traffic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1B89F-01D9-44A9-B13C-7BA69426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52675"/>
            <a:ext cx="2238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AA2D7-00BA-47AD-9581-48D5400C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526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31435-2A31-4E55-8FB5-E4DEA564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47925"/>
            <a:ext cx="1971675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ALB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EA84E-A923-4B4D-B0B5-7BD955A8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71775"/>
            <a:ext cx="1971675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Path-based routing to service URLs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8D2F2-A246-428B-B185-B925EB67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9"/>
          </a:solidFill>
          <a:ln xmlns:a="http://schemas.openxmlformats.org/drawingml/2006/main" w="9525">
            <a:solidFill>
              <a:srgbClr val="B9C7D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60B62-F483-4B59-8C94-A8DFFD39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62100"/>
            <a:ext cx="40957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Private subnets: ECS Fargate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EFCD0-3351-4635-94B2-A1167526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4C5B2-2D65-4F00-9F5B-7AAB851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AAF4F-A0AC-44CE-87E3-39101CFF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319C4-11DD-40AE-BAFD-F4E78D6C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7172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556BB-0A4F-4318-8597-25E80C95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47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AF672-3D51-4FD4-A499-2111E1B9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4787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90E3B-AD10-4086-82E5-950BF746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14312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38386-C0E5-4934-B3BE-9BB83B16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7172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C1FC6-9B6B-4606-A5F5-1188492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FDA15-8070-42B3-8C78-85697C49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697F9-AB8D-4C09-A6AB-DEDC3784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4312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EF7AD-F832-4AA8-9A91-705B4E07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7172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2453E-0870-4A15-8575-D9F76AE4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289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4AA58-04AB-40A8-BDEE-BD11BDB9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28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F8437-A2BE-47B6-B838-95B07955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2417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8E6A4-CE9E-43D0-9181-BBFCAA9D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5277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5BCD6-BDE1-4F05-9E5A-BF521E21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289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123C4-CE17-48F6-8126-CCBD9DF7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28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91B4E8-0A2E-49C4-BA6D-AF6627C9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2417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B74A39-DA66-4480-B6ED-39132733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5277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687735-43B1-458D-AB4C-180AA86E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289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1438DC-C8D7-4DF8-991E-0BCFC700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28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8B3436-B23E-49F0-9E32-108FF3C3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2417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52BA3F-CF1C-4237-A77C-40CA818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5277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nginx :80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2190750" y="28194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5143500" y="28194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047BC8-EC25-4C3E-9963-D0309464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0B1B99-EDE5-44DF-8658-548946C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9FFFB9-3610-43EF-BCF5-633DE30F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2114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RDS PostgreSQL x3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3FD554-BDE2-42F5-A7B0-3B3ED42D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2114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Enterprise, catalog, orders DBs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957086-281A-454D-9087-22605FC6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769CDB-4B84-4CE4-996A-19753830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10554C-283F-4EB4-BEA0-9932AF54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72000"/>
            <a:ext cx="1828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ElastiCache Redis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56D404-CF0B-41C6-95EB-04CA2587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895850"/>
            <a:ext cx="18288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Cart session cache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F2707B-E69C-44E5-97D2-6294AE3A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5C9DA2-E0F5-49C0-8400-D09745A8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A2D695-796F-4269-9F78-BDC7FDD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72000"/>
            <a:ext cx="1828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Secrets Manager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1DF9EF-69D6-43FF-86CC-D95D3B1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95850"/>
            <a:ext cx="18288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OAuth, JWT, DB secrets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13A30E-25BF-42DF-9539-8A859A5B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767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4B3959-A2B0-480F-B7BF-E3451BEE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6AB27A-B38A-479E-BA09-E3334857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72000"/>
            <a:ext cx="1447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ECR / CloudWatch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5C4BDF-BF35-4CD8-A7A9-EA9C5A3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95850"/>
            <a:ext cx="14478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Images and logs</a:t>
            </a:r>
          </a:p>
        </p:txBody>
      </p:sp>
    </p:spTree>
    <p:extLst>
      <p:ext uri="{BB962C8B-B14F-4D97-AF65-F5344CB8AC3E}">
        <p14:creationId xmlns:p14="http://schemas.microsoft.com/office/powerpoint/2010/main" val="867399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B90E9-A926-4010-8B0A-FF17D84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2C809-7F65-4003-8F86-067CA0C0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 GitHub push can build images and trigger ECS rolling deployments.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783F2-7462-4E65-9CD0-44234887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4424E-E775-4542-8F8A-EE2A6629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B33F3-CC4A-4EA6-8897-83235613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58FA4-0FED-4D2C-9BF5-0FE430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DA224-F451-44A3-91FC-EE51F867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 repo push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232410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6836A-44CC-4355-8533-3990715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43746-6542-4F20-AEB3-529865BC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EAF09-7679-4C11-86B6-E3894472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DFDDB-4CD2-410E-B1B0-6A9DC209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 and build stages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51485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1D548-9B41-45BD-AE8A-A867E38D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1CE15-D776-4257-B4C7-5233638C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E2238-238B-40D8-8129-3BF3E57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1244F-DE03-4CCB-AA6D-053AB2CA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Docker build x6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70560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2D409-33D8-4ED0-86BD-FBC9B8C9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813BF-1355-4A46-BB35-13F535B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4A60B-EB24-4E4B-8770-C06A0EFB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39E9D-E63E-4E46-A3A1-7CBABAAE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Commit tag + latest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889635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32DE1-2803-4043-95EB-C0CD0F7E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47992-0D47-4076-8AC7-9DCD3EAF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B0B00-7169-4E65-A94F-A9A3FF90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ECS Fargate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179C3-B731-4E7E-BB4B-1828F486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Rolling redeploy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157623-A642-4E00-8592-FAF45473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ECR login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F0453E-B3B6-43DA-B60A-74EACD3A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images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BE10B-A2EE-4F98-B263-FAD674F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Push images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3A545-7FDD-4A0F-B36C-4937BE29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Force ECS deployment</a:t>
            </a:r>
          </a:p>
        </p:txBody>
      </p:sp>
    </p:spTree>
    <p:extLst>
      <p:ext uri="{BB962C8B-B14F-4D97-AF65-F5344CB8AC3E}">
        <p14:creationId xmlns:p14="http://schemas.microsoft.com/office/powerpoint/2010/main" val="97742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64519-2B70-4725-8951-620F4897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049C8-DA16-4D77-9E78-D0B367DD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technology choices match the project’s cloud-service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4517D-EAC0-42DF-B61E-27502FAD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AF581-2526-471A-AB34-41FAECEA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8BD8D-3993-453D-8CAA-1EF4F106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3, Vite, Pinia, Vue Router, Axios</a:t>
            </a:r>
          </a:p>
        </p:txBody>
      </p:sp>
      <p:cxnSp>
        <p:nvCxnSpPr>
          <p:cNvPr id="6" name=""/>
          <p:cNvCxnSpPr/>
          <p:nvPr/>
        </p:nvCxnSpPr>
        <p:spPr>
          <a:xfrm xmlns:a="http://schemas.openxmlformats.org/drawingml/2006/main">
            <a:off x="2333625" y="21526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1D405-9B2B-4A7F-BD09-A1BDEF83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4BEE-D1F0-426E-8553-AB29F910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622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Node.js, Express, Passport.js, JWT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2333625" y="289560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3A2B9-0B5F-4D6D-A56C-C66EA725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08EBC-30AD-47E6-BDEC-A142A05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PostgreSQL, Redis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2333625" y="36385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87A75-E283-40A1-8463-472FDA6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F65E6-400F-4AD6-A692-D8DFE97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ECS Fargate, ALB, RDS, ElastiCache, ECR, Secrets Manager, CloudWatch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2333625" y="438150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8E795-89D0-42ED-93CB-2466279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37C60-5B6E-4A65-AC55-F07B86B4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910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Docker, Docker Compose, AWS CDK, CodePipeline, CodeBuild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2333625" y="51244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</p:spTree>
    <p:extLst>
      <p:ext uri="{BB962C8B-B14F-4D97-AF65-F5344CB8AC3E}">
        <p14:creationId xmlns:p14="http://schemas.microsoft.com/office/powerpoint/2010/main" val="986574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BE814-C54A-4EC7-AD64-2033C26D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F88EA-5BD9-45AC-8D73-9AD223DB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demo follows the customer journey, then switches to admin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960F9-8165-47EB-BB22-3A94396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71850-EAEF-49A4-BE75-CC329540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31A65-84EC-4DE9-BBAA-D0A043CA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1C069-7F43-447B-90D0-C0050916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Sign in with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EAE2C-8C81-452A-8FC0-D21C134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5031F-66DE-4D55-BEC1-A653E52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E249C-AE33-4C82-919D-B6926EA4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Browse catalog and filter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04BE9-E7D6-4920-9ED7-D7180A3E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B109F-967F-47AB-84AC-EAB9A28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83C40-153D-4E39-85CE-5D7A63B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products to cart and update quantity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AAA95-F9A1-404F-AFCF-5101BFE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97A88-1ECD-45E0-9AEB-D1653B9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C5121-BBBE-45A0-AE58-1B6FACAE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Place order with shipping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D5AC1-EE83-48D1-9D23-43793991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666FC-91AE-4BEC-A40D-D0E01F1F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4EA86-C107-4E73-AB80-B97960B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View order history and details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669E1-8785-41DE-B483-BAA5634E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B9B45-281D-4DA9-AAEA-15A797A0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23E40-C770-475F-BEF8-35AEBA0E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 admin Enterprise Data Viewer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84345-0F8E-4C16-932C-EF381310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7C8CB-F84D-4F00-929A-FCA43D8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3000D-825C-4E9B-AA52-82EDE197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or delete catalog products</a:t>
            </a:r>
          </a:p>
        </p:txBody>
      </p:sp>
    </p:spTree>
    <p:extLst>
      <p:ext uri="{BB962C8B-B14F-4D97-AF65-F5344CB8AC3E}">
        <p14:creationId xmlns:p14="http://schemas.microsoft.com/office/powerpoint/2010/main" val="1148676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D0FCDB-1564-45CF-9B15-8D762D1B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6B446-05CB-41FB-BCAE-DE6F5F24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hardest parts were service coordination and deployment configuration.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4C74B-0B6C-41EA-8F67-3336D595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FB321-FD78-4A1C-847E-C061DA3C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71A69-BCBB-46AB-8F45-214A2D9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Challenges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52FC2-04EE-4E12-BD1C-279137B2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F51E2-1D3C-49CE-975C-BCC375C5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Shared JWT across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6B4FA-F9F9-451C-B1E8-731B9010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64482-BCCA-4F4E-8C4A-01A92CF0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RBAC consistency across backend and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DCE12-BAE7-4F9A-91FB-DD5DCC9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D9198-1358-42F4-92A4-CA60C15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Multi-service environment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56592-3FF6-4353-9E45-05AC606F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C26F7-143D-475D-867A-0E6FAF36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Two-pass ALB URL deployment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AE6C1-088F-4B8F-9D3D-233B284B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8F39F-BE19-4776-BCD6-4FF945C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5DF3B-C556-4906-B7F9-EFE6AF53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A8332-1131-4151-82EA-1B363423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Microservices improve separation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EF0B1-D62E-480A-8878-E9E05DD7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EB191-B658-48C4-B321-28232C82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Configuration discipline matters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2F98B-A67A-45C6-8BD3-250C9A56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683F2-5182-4BDE-A6CB-DAFE9D66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385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IaC makes cloud setup repeatable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AB13E-0317-46BC-BC9F-6D3BB8A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104F8-8086-43C8-8A75-F3D9685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400B2-D77B-4635-B320-AAF08104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5CF26-60B3-45B8-B6DA-AD52CFD6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Payment gateway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813131-1FE8-4EE7-81A8-4D52F62F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42302-FFA8-40FB-A1AB-7608B70F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Chatbot assistant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62F7E-A698-4F10-8919-971DB6A1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827162-8F49-459E-9130-4D341EF5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Inventory alerts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182C3-EA8C-4905-AE0F-1EFB1F4F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0DDA4-0EAF-447D-8520-40457B3E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HTTPS/custom domain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BD7DB-3775-4B35-8437-CA10EEE5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A1A1A8-E59E-4A3B-BE81-0D140E09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Monitoring dashboards</a:t>
            </a:r>
          </a:p>
        </p:txBody>
      </p:sp>
    </p:spTree>
    <p:extLst>
      <p:ext uri="{BB962C8B-B14F-4D97-AF65-F5344CB8AC3E}">
        <p14:creationId xmlns:p14="http://schemas.microsoft.com/office/powerpoint/2010/main" val="1546872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BA346-BDAC-437C-B19F-E82B287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06CFB-C159-4180-B4E9-13E1C232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NimbusCart demonstrates a secure, cloud-native retail platform.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C389C-4C44-4D1D-AE48-722A53FE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EF15-C356-47AD-9FCE-93C27FA3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Secure customer and admin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65CFA-1A7D-4C32-AFCA-079A631C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AWS-managed infrastructure and automated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F48E0-FBB5-4CC7-9E3F-88F47CD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A foundation that can evolve toward production-grade retail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78598-9E7E-4ECD-9D59-A123C593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28750"/>
            <a:ext cx="385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83828-AE4D-41AC-89F9-4FF89D32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95450"/>
            <a:ext cx="238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6103D-E260-4C73-8358-C3B267FF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907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NimbusCart README.md and infrastructure/lib/nimbuscart-stack.ts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8B245-E54D-4E80-872D-9CDE89F6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003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U.S. Census Bureau, Quarterly Retail E-Commerce Sales, Q4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4DFBA-41E3-4340-9139-CB79383D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AWS documentation: ECS, ALB, RDS, ECR, Secrets Manager, CodePipeline, CodeBuild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199CD-1361-4111-8E1E-3D0A5C2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195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Google OAuth 2.0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932106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2026-05-07T06:20:37.6140000Z</dcterms:created>
  <dcterms:modified xsi:type="dcterms:W3CDTF">2026-05-07T06:20:37.6140000Z</dcterms:modified>
</coreProperties>
</file>