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8" r:id="rId7"/>
    <p:sldId id="264" r:id="rId8"/>
    <p:sldId id="263" r:id="rId9"/>
    <p:sldId id="262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70665"/>
  </p:normalViewPr>
  <p:slideViewPr>
    <p:cSldViewPr snapToGrid="0">
      <p:cViewPr varScale="1">
        <p:scale>
          <a:sx n="73" d="100"/>
          <a:sy n="73" d="100"/>
        </p:scale>
        <p:origin x="1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our project is NimbusCart for CMPE-282.</a:t>
            </a:r>
          </a:p>
          <a:p>
            <a:r>
              <a:rPr lang="en-US" dirty="0"/>
              <a:t>We are team cloud9.</a:t>
            </a:r>
          </a:p>
          <a:p>
            <a:r>
              <a:rPr lang="en-US" dirty="0"/>
              <a:t>The idea behind NimbusCart is to show a retail application as a real cloud services system, not only a frontend demo.</a:t>
            </a:r>
          </a:p>
          <a:p>
            <a:r>
              <a:rPr lang="en-US" dirty="0"/>
              <a:t>In this presentation I will walk through what we built, why the problem matters, how the services work together, and how the AWS deployment and CI/CD pieces fit into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best summary of what we actually built.</a:t>
            </a:r>
          </a:p>
          <a:p>
            <a:r>
              <a:rPr lang="en-US" dirty="0"/>
              <a:t>NimbusCart has a customer-facing shopping flow and an admin-facing enterprise data flow.</a:t>
            </a:r>
          </a:p>
          <a:p>
            <a:r>
              <a:rPr lang="en-US" dirty="0"/>
              <a:t>On the customer side, users can browse products, manage a cart, place an order, and view order history.</a:t>
            </a:r>
          </a:p>
          <a:p>
            <a:r>
              <a:rPr lang="en-US" dirty="0"/>
              <a:t>On the admin side, we built an Enterprise Data Viewer for products, customers, orders, and revenue.</a:t>
            </a:r>
          </a:p>
          <a:p>
            <a:r>
              <a:rPr lang="en-US" dirty="0"/>
              <a:t>The important part is that every screen maps to backend services, databases, security rules, and an AWS deployment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motivation is that retail apps are no longer just simple product pages.</a:t>
            </a:r>
          </a:p>
          <a:p>
            <a:r>
              <a:rPr lang="en-US" dirty="0"/>
              <a:t>They need secure customer access, operational data visibility, and infrastructure that can scale different workloads separately.</a:t>
            </a:r>
          </a:p>
          <a:p>
            <a:r>
              <a:rPr lang="en-US" dirty="0"/>
              <a:t>The Census Bureau reported that U.S.</a:t>
            </a:r>
          </a:p>
          <a:p>
            <a:r>
              <a:rPr lang="en-US" dirty="0"/>
              <a:t>retail e-commerce sales reached 316.1 billion dollars in Q4 2025, so this is a real business-scale problem.</a:t>
            </a:r>
          </a:p>
          <a:p>
            <a:r>
              <a:rPr lang="en-US" dirty="0"/>
              <a:t>NimbusCart addresses this by separating customer shopping flows from admin data access while keeping both under one secure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NimbusCart interesting is that we treated it like a deployable system.</a:t>
            </a:r>
          </a:p>
          <a:p>
            <a:r>
              <a:rPr lang="en-US" dirty="0"/>
              <a:t>The services are separated instead of putting everything in one server.</a:t>
            </a:r>
          </a:p>
          <a:p>
            <a:r>
              <a:rPr lang="en-US" dirty="0"/>
              <a:t>Google OAuth handles login, JWT carries the user identity, and RBAC controls what admins can do.</a:t>
            </a:r>
          </a:p>
          <a:p>
            <a:r>
              <a:rPr lang="en-US" dirty="0"/>
              <a:t>Redis is used for cart state because cart data is temporary.</a:t>
            </a:r>
          </a:p>
          <a:p>
            <a:r>
              <a:rPr lang="en-US" dirty="0"/>
              <a:t>PostgreSQL is used for durable business records.</a:t>
            </a:r>
          </a:p>
          <a:p>
            <a:r>
              <a:rPr lang="en-US" dirty="0"/>
              <a:t>We also added CDK and CodeBuild so deployment is part of the project,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main actors in the system.</a:t>
            </a:r>
          </a:p>
          <a:p>
            <a:r>
              <a:rPr lang="en-US" dirty="0"/>
              <a:t>A customer signs in, shops, checks out, and tracks orders.</a:t>
            </a:r>
          </a:p>
          <a:p>
            <a:r>
              <a:rPr lang="en-US" dirty="0"/>
              <a:t>An admin has a different experience: they can view enterprise data and manage catalog items.</a:t>
            </a:r>
          </a:p>
          <a:p>
            <a:r>
              <a:rPr lang="en-US" dirty="0"/>
              <a:t>The system actor represents the invisible work happening behind the UI, such as JWT validation, API routing, persistence, caching, and deployment.</a:t>
            </a:r>
          </a:p>
          <a:p>
            <a:r>
              <a:rPr lang="en-US" dirty="0"/>
              <a:t>This helped us define permissions and service responsibilities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runtime flow of </a:t>
            </a:r>
            <a:r>
              <a:rPr lang="en-US" dirty="0" err="1"/>
              <a:t>NimbusCart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user signs in from the Vue UI using Google OAuth. The Enterprise service handles the OAuth callback and issues a JWT with the user’s identity and role.</a:t>
            </a:r>
          </a:p>
          <a:p>
            <a:endParaRPr lang="en-US" dirty="0"/>
          </a:p>
          <a:p>
            <a:r>
              <a:rPr lang="en-US" dirty="0"/>
              <a:t>The Vue app stores that token in </a:t>
            </a:r>
            <a:r>
              <a:rPr lang="en-US" dirty="0" err="1"/>
              <a:t>Pinia</a:t>
            </a:r>
            <a:r>
              <a:rPr lang="en-US" dirty="0"/>
              <a:t> and </a:t>
            </a:r>
            <a:r>
              <a:rPr lang="en-US" dirty="0" err="1"/>
              <a:t>localStorage</a:t>
            </a:r>
            <a:r>
              <a:rPr lang="en-US" dirty="0"/>
              <a:t>. After that, every API request includes the JWT as a Bearer token.</a:t>
            </a:r>
          </a:p>
          <a:p>
            <a:endParaRPr lang="en-US" dirty="0"/>
          </a:p>
          <a:p>
            <a:r>
              <a:rPr lang="en-US" dirty="0"/>
              <a:t>For shopping, the UI calls the Catalog service for products and the Cart service for cart updates. Catalog uses PostgreSQL, while Cart stores temporary cart data in Redis.</a:t>
            </a:r>
          </a:p>
          <a:p>
            <a:endParaRPr lang="en-US" dirty="0"/>
          </a:p>
          <a:p>
            <a:r>
              <a:rPr lang="en-US" dirty="0"/>
              <a:t>When checkout starts, the Checkout service gets the cart, creates an order through the Orders service, and then clears the cart.</a:t>
            </a:r>
          </a:p>
          <a:p>
            <a:endParaRPr lang="en-US" dirty="0"/>
          </a:p>
          <a:p>
            <a:r>
              <a:rPr lang="en-US" dirty="0"/>
              <a:t>The key point is that each backend verifies the JWT independently, and Checkout is the only backend service that calls other backend services directly.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lists the stack we used.</a:t>
            </a:r>
          </a:p>
          <a:p>
            <a:r>
              <a:rPr lang="en-US" dirty="0"/>
              <a:t>Vue 3 and Vite gave us a lightweight frontend.</a:t>
            </a:r>
          </a:p>
          <a:p>
            <a:r>
              <a:rPr lang="en-US" dirty="0"/>
              <a:t>Pinia handles frontend state like auth and cart data.</a:t>
            </a:r>
          </a:p>
          <a:p>
            <a:r>
              <a:rPr lang="en-US" dirty="0"/>
              <a:t>Node and Express were used for all backend services.</a:t>
            </a:r>
          </a:p>
          <a:p>
            <a:r>
              <a:rPr lang="en-US" dirty="0"/>
              <a:t>Passport.js supports Google OAuth, while JWT is shared across services for stateless authorization.</a:t>
            </a:r>
          </a:p>
          <a:p>
            <a:r>
              <a:rPr lang="en-US" dirty="0"/>
              <a:t>PostgreSQL stores durable records, Redis stores temporary cart state, and the AWS services provide the deployment, networking, secrets, images, logs, and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CI/CD pipeline starts from GitHub.</a:t>
            </a:r>
          </a:p>
          <a:p>
            <a:r>
              <a:rPr lang="en-US" dirty="0"/>
              <a:t>When code is pushed, CodePipeline can trigger CodeBuild.</a:t>
            </a:r>
          </a:p>
          <a:p>
            <a:r>
              <a:rPr lang="en-US" dirty="0"/>
              <a:t>CodeBuild logs in to ECR, builds Docker images for the UI and backend services, tags them, and pushes them to ECR.</a:t>
            </a:r>
          </a:p>
          <a:p>
            <a:r>
              <a:rPr lang="en-US" dirty="0"/>
              <a:t>After that, ECS services are forced into a rolling redeployment.</a:t>
            </a:r>
          </a:p>
          <a:p>
            <a:r>
              <a:rPr lang="en-US" dirty="0"/>
              <a:t>This matters because NimbusCart has multiple services, so the pipeline has to build and redeploy more than one container image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diagram shows the cloud deployment view.</a:t>
            </a:r>
          </a:p>
          <a:p>
            <a:r>
              <a:rPr lang="en-US" dirty="0"/>
              <a:t>At the top is the CI/CD path: CodePipeline triggers CodeBuild, CodeBuild builds the service images, and ECR stores those Docker images.</a:t>
            </a:r>
          </a:p>
          <a:p>
            <a:r>
              <a:rPr lang="en-US" dirty="0"/>
              <a:t>In the runtime path, CloudFront and the load balancer provide the edge and routing layer.</a:t>
            </a:r>
          </a:p>
          <a:p>
            <a:r>
              <a:rPr lang="en-US" dirty="0"/>
              <a:t>The ALB forwards traffic into ECS Fargate, where the NimbusCart services run: UI, Enterprise/Auth, Catalog, Cart, Checkout, and Orders.</a:t>
            </a:r>
          </a:p>
          <a:p>
            <a:r>
              <a:rPr lang="en-US" dirty="0"/>
              <a:t>The services connect to RDS PostgreSQL for durable enterprise, catalog, and order data; ElastiCache Redis for cart storage; CloudWatch for logs and monitoring; and Secrets Manager for sensitive configuration.</a:t>
            </a:r>
          </a:p>
          <a:p>
            <a:r>
              <a:rPr lang="en-US" dirty="0"/>
              <a:t>Certificate Manager supports TLS at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demo, I would start as a customer.</a:t>
            </a:r>
          </a:p>
          <a:p>
            <a:r>
              <a:rPr lang="en-US" dirty="0"/>
              <a:t>First, sign in with Google.</a:t>
            </a:r>
          </a:p>
          <a:p>
            <a:r>
              <a:rPr lang="en-US" dirty="0"/>
              <a:t>Then browse the catalog, filter products, add items to the cart, update quantities, and place an order with shipping details.</a:t>
            </a:r>
          </a:p>
          <a:p>
            <a:r>
              <a:rPr lang="en-US" dirty="0"/>
              <a:t>After checkout, show the order history and order detail view.</a:t>
            </a:r>
          </a:p>
          <a:p>
            <a:r>
              <a:rPr lang="en-US" dirty="0"/>
              <a:t>Then switch to the admin role and show the Enterprise Data Viewer.</a:t>
            </a:r>
          </a:p>
          <a:p>
            <a:r>
              <a:rPr lang="en-US" dirty="0"/>
              <a:t>Finally, demonstrate catalog management by adding or deleting a product.</a:t>
            </a:r>
          </a:p>
          <a:p>
            <a:r>
              <a:rPr lang="en-US" dirty="0"/>
              <a:t>This flow shows both user roles and the backend services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NimbusCart demonstrates the main ideas of a cloud services project: secure identity, service separation, managed data stores, container deployment, and automated delivery.</a:t>
            </a:r>
          </a:p>
          <a:p>
            <a:r>
              <a:rPr lang="en-US" dirty="0"/>
              <a:t>The project is not only about shopping features; it is about connecting those features to a real architecture.</a:t>
            </a:r>
          </a:p>
          <a:p>
            <a:r>
              <a:rPr lang="en-US" dirty="0"/>
              <a:t>The references here include our repository, the Census data used for the motivation slide, AWS documentation for the cloud services, and Google OAuth documentation for the authentication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143B63F-9830-49EE-B533-BE09301F001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181100" cy="32385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0AC684-EB3A-4489-A35B-A2C65A606FEF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02D19-CBCC-444F-925D-962C4963D08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52238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7239000" y="0"/>
            <a:ext cx="0" cy="6858000"/>
          </a:xfrm>
          <a:prstGeom prst="straightConnector1">
            <a:avLst/>
          </a:prstGeom>
          <a:ln w="9525">
            <a:solidFill>
              <a:srgbClr val="334155"/>
            </a:solidFill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62940AA-503A-47DD-A6B6-AB7A644F0AD2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5810250" cy="8191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95000"/>
              </a:lnSpc>
              <a:buNone/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9EB94-4105-4911-8956-BB937A94147F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5810250" cy="4191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lang="en-US" dirty="0"/>
              <a:t>E-commerce and Enterprise analytics platform </a:t>
            </a:r>
            <a:endParaRPr sz="1800" b="0" dirty="0">
              <a:solidFill>
                <a:srgbClr val="DBEAF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3D6FC6-FDF8-4169-AC2A-1684B5C0321D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00500" cy="3238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CMPE-282: Cloud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DD00C4-7AAE-4B81-9EC9-5ADFFDDB9261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4000500" cy="3238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Team: </a:t>
            </a:r>
            <a:r>
              <a:rPr lang="en-US" sz="13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CLOUD 9</a:t>
            </a:r>
            <a:endParaRPr sz="1350" b="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31B9DE-1BF1-45EE-84C8-E1770D85F0E2}"/>
              </a:ext>
            </a:extLst>
          </p:cNvPr>
          <p:cNvSpPr>
            <a:spLocks noGrp="1"/>
          </p:cNvSpPr>
          <p:nvPr/>
        </p:nvSpPr>
        <p:spPr>
          <a:xfrm>
            <a:off x="7905750" y="1562100"/>
            <a:ext cx="3143250" cy="2857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050" b="1">
                <a:solidFill>
                  <a:srgbClr val="9DD6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D6E9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19C38-61A6-40DF-824B-A84BD648099B}"/>
              </a:ext>
            </a:extLst>
          </p:cNvPr>
          <p:cNvSpPr>
            <a:spLocks noGrp="1"/>
          </p:cNvSpPr>
          <p:nvPr/>
        </p:nvSpPr>
        <p:spPr>
          <a:xfrm>
            <a:off x="7905750" y="1943100"/>
            <a:ext cx="3238500" cy="15240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Akshay Sunil Navani</a:t>
            </a:r>
            <a:endParaRPr lang="en-US" sz="165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Atharva Kulkarni</a:t>
            </a:r>
            <a:endParaRPr lang="en-US" sz="16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Joshini Naagraaj</a:t>
            </a:r>
            <a:endParaRPr lang="en-US" sz="16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Shantanu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Zadbuke</a:t>
            </a:r>
            <a:endParaRPr sz="165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1C97D-4771-4DF0-BF98-6C65B0A7C701}"/>
              </a:ext>
            </a:extLst>
          </p:cNvPr>
          <p:cNvSpPr>
            <a:spLocks noGrp="1"/>
          </p:cNvSpPr>
          <p:nvPr/>
        </p:nvSpPr>
        <p:spPr>
          <a:xfrm>
            <a:off x="7953375" y="4267200"/>
            <a:ext cx="5143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98719D-DB9E-42C5-A383-9EBA6E34A725}"/>
              </a:ext>
            </a:extLst>
          </p:cNvPr>
          <p:cNvSpPr>
            <a:spLocks noGrp="1"/>
          </p:cNvSpPr>
          <p:nvPr/>
        </p:nvSpPr>
        <p:spPr>
          <a:xfrm>
            <a:off x="8591550" y="4314825"/>
            <a:ext cx="22860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ED57D0-19AA-4C6E-B918-CDBCAEE6F4D5}"/>
              </a:ext>
            </a:extLst>
          </p:cNvPr>
          <p:cNvSpPr>
            <a:spLocks noGrp="1"/>
          </p:cNvSpPr>
          <p:nvPr/>
        </p:nvSpPr>
        <p:spPr>
          <a:xfrm>
            <a:off x="7953375" y="4876800"/>
            <a:ext cx="5143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0B8B46-EF73-46A6-8634-DF4A38358DB4}"/>
              </a:ext>
            </a:extLst>
          </p:cNvPr>
          <p:cNvSpPr>
            <a:spLocks noGrp="1"/>
          </p:cNvSpPr>
          <p:nvPr/>
        </p:nvSpPr>
        <p:spPr>
          <a:xfrm>
            <a:off x="8591550" y="4924425"/>
            <a:ext cx="22860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DBs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5B9AFF-837B-4E83-AD28-1A2E00E73A7C}"/>
              </a:ext>
            </a:extLst>
          </p:cNvPr>
          <p:cNvSpPr>
            <a:spLocks noGrp="1"/>
          </p:cNvSpPr>
          <p:nvPr/>
        </p:nvSpPr>
        <p:spPr>
          <a:xfrm>
            <a:off x="7953375" y="5486400"/>
            <a:ext cx="5143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5C2A07-1EC6-4EB6-A9F5-A1F3EA903F0B}"/>
              </a:ext>
            </a:extLst>
          </p:cNvPr>
          <p:cNvSpPr>
            <a:spLocks noGrp="1"/>
          </p:cNvSpPr>
          <p:nvPr/>
        </p:nvSpPr>
        <p:spPr>
          <a:xfrm>
            <a:off x="8591550" y="5534025"/>
            <a:ext cx="22860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Redis cache</a:t>
            </a:r>
          </a:p>
        </p:txBody>
      </p:sp>
    </p:spTree>
    <p:extLst>
      <p:ext uri="{BB962C8B-B14F-4D97-AF65-F5344CB8AC3E}">
        <p14:creationId xmlns:p14="http://schemas.microsoft.com/office/powerpoint/2010/main" val="50518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2EAE65-7DF7-4F51-995F-BCD73866120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1811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31BCA-73BB-4E6B-AFA7-0ECE196AA59C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We built NimbusCart as an end-to-end cloud services project.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7B8BB-FF6C-456C-9C46-F9B4721BFE88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D752F-5A1D-4229-A1FD-3E8D0344986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5143500" cy="6667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Our goal was to connect a working retail experience with the cloud pieces behind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0A17F2-B291-4F12-8943-C15923925897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76200" cy="762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99AF67-E19A-4797-B730-8B26F2AEAF8E}"/>
              </a:ext>
            </a:extLst>
          </p:cNvPr>
          <p:cNvSpPr>
            <a:spLocks noGrp="1"/>
          </p:cNvSpPr>
          <p:nvPr/>
        </p:nvSpPr>
        <p:spPr>
          <a:xfrm>
            <a:off x="6896100" y="1619250"/>
            <a:ext cx="41529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storefront for browsing, cart, checkout, and orders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57B104-B135-4788-BFC7-83029121893B}"/>
              </a:ext>
            </a:extLst>
          </p:cNvPr>
          <p:cNvSpPr>
            <a:spLocks noGrp="1"/>
          </p:cNvSpPr>
          <p:nvPr/>
        </p:nvSpPr>
        <p:spPr>
          <a:xfrm>
            <a:off x="6667500" y="2266950"/>
            <a:ext cx="76200" cy="7620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3A08A-C3E2-4F14-B6F1-5945FD355020}"/>
              </a:ext>
            </a:extLst>
          </p:cNvPr>
          <p:cNvSpPr>
            <a:spLocks noGrp="1"/>
          </p:cNvSpPr>
          <p:nvPr/>
        </p:nvSpPr>
        <p:spPr>
          <a:xfrm>
            <a:off x="6896100" y="2171700"/>
            <a:ext cx="41529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Enterprise Data Viewer for products, customers, orders,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A1B075-F5E2-47B4-8A50-848D30E372DA}"/>
              </a:ext>
            </a:extLst>
          </p:cNvPr>
          <p:cNvSpPr>
            <a:spLocks noGrp="1"/>
          </p:cNvSpPr>
          <p:nvPr/>
        </p:nvSpPr>
        <p:spPr>
          <a:xfrm>
            <a:off x="6667500" y="2819400"/>
            <a:ext cx="76200" cy="762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E989A-2C73-43FD-A582-6C508B4FAC3B}"/>
              </a:ext>
            </a:extLst>
          </p:cNvPr>
          <p:cNvSpPr>
            <a:spLocks noGrp="1"/>
          </p:cNvSpPr>
          <p:nvPr/>
        </p:nvSpPr>
        <p:spPr>
          <a:xfrm>
            <a:off x="6896100" y="2724150"/>
            <a:ext cx="41529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Five Express APIs plus a separate nginx-served 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18D3D-3C60-4CA0-9403-B6306B95E0AC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76200" cy="7620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4A6C4F-9CF2-4AA7-AEBA-DD7C752B08EA}"/>
              </a:ext>
            </a:extLst>
          </p:cNvPr>
          <p:cNvSpPr>
            <a:spLocks noGrp="1"/>
          </p:cNvSpPr>
          <p:nvPr/>
        </p:nvSpPr>
        <p:spPr>
          <a:xfrm>
            <a:off x="6896100" y="3276600"/>
            <a:ext cx="41529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and Redis chosen by data lifetime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65FA22-EE25-402E-A238-9542E65CDE7C}"/>
              </a:ext>
            </a:extLst>
          </p:cNvPr>
          <p:cNvSpPr>
            <a:spLocks noGrp="1"/>
          </p:cNvSpPr>
          <p:nvPr/>
        </p:nvSpPr>
        <p:spPr>
          <a:xfrm>
            <a:off x="6667500" y="3924300"/>
            <a:ext cx="76200" cy="762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E8E83C-BB73-4896-AB67-A5C05D961289}"/>
              </a:ext>
            </a:extLst>
          </p:cNvPr>
          <p:cNvSpPr>
            <a:spLocks noGrp="1"/>
          </p:cNvSpPr>
          <p:nvPr/>
        </p:nvSpPr>
        <p:spPr>
          <a:xfrm>
            <a:off x="6896100" y="3829050"/>
            <a:ext cx="41529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and CodeBuild make deployment part of the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39C42-0548-4C7C-9320-0CC4F82AC2D3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5048250" cy="209550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52E1FA-04F3-4BF2-95B5-021CC29B0331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4286250" cy="10477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makes it more than a shopping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FFAF21-5294-47E0-8B82-A6EF94E82DB5}"/>
              </a:ext>
            </a:extLst>
          </p:cNvPr>
          <p:cNvSpPr>
            <a:spLocks noGrp="1"/>
          </p:cNvSpPr>
          <p:nvPr/>
        </p:nvSpPr>
        <p:spPr>
          <a:xfrm>
            <a:off x="971550" y="4457700"/>
            <a:ext cx="4095750" cy="4572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Every feature maps to a service, datastore, security rule, and AWS deployment concern.</a:t>
            </a:r>
          </a:p>
        </p:txBody>
      </p:sp>
    </p:spTree>
    <p:extLst>
      <p:ext uri="{BB962C8B-B14F-4D97-AF65-F5344CB8AC3E}">
        <p14:creationId xmlns:p14="http://schemas.microsoft.com/office/powerpoint/2010/main" val="156804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ADCB09-9F59-4D1E-864C-479BD41DEE5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7907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CC869C-7418-4752-98DB-293427B01607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Retail needs secure systems that scale with online demand.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E2C3BB-A5B0-4C9B-8FD2-F969A344E1F9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04642-77C4-4A12-B16A-646D6779A01B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667125" cy="228600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226C3-EF5D-44EE-8C5F-07901F80F110}"/>
              </a:ext>
            </a:extLst>
          </p:cNvPr>
          <p:cNvSpPr>
            <a:spLocks noGrp="1"/>
          </p:cNvSpPr>
          <p:nvPr/>
        </p:nvSpPr>
        <p:spPr>
          <a:xfrm>
            <a:off x="933450" y="2190750"/>
            <a:ext cx="295275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$316.1B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6592A-8991-4FD7-A951-9C9BAEEF0084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2714625" cy="6096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U.S. retail e-commerce sales in Q4 2025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2FC249-BF2C-455D-A604-A5AE72C1C67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476750" cy="3238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Source: U.S. Census Bureau, Quarterly Retail E-Commerce Sales, Mar. 10, 2026.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A58CF0-2F60-47AB-8201-1755F81EA0BA}"/>
              </a:ext>
            </a:extLst>
          </p:cNvPr>
          <p:cNvSpPr>
            <a:spLocks noGrp="1"/>
          </p:cNvSpPr>
          <p:nvPr/>
        </p:nvSpPr>
        <p:spPr>
          <a:xfrm>
            <a:off x="5476875" y="1905000"/>
            <a:ext cx="76200" cy="762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C660C-1C20-446E-9F7A-3B2453F32006}"/>
              </a:ext>
            </a:extLst>
          </p:cNvPr>
          <p:cNvSpPr>
            <a:spLocks noGrp="1"/>
          </p:cNvSpPr>
          <p:nvPr/>
        </p:nvSpPr>
        <p:spPr>
          <a:xfrm>
            <a:off x="5705475" y="1809750"/>
            <a:ext cx="51054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Operational teams need product, customer, and order visibility in one protected portal.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651FD7-0AF8-4232-BF90-2B65E664EDF4}"/>
              </a:ext>
            </a:extLst>
          </p:cNvPr>
          <p:cNvSpPr>
            <a:spLocks noGrp="1"/>
          </p:cNvSpPr>
          <p:nvPr/>
        </p:nvSpPr>
        <p:spPr>
          <a:xfrm>
            <a:off x="5476875" y="2609850"/>
            <a:ext cx="76200" cy="7620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D9AC56-0760-476D-ABC3-051CA2099E42}"/>
              </a:ext>
            </a:extLst>
          </p:cNvPr>
          <p:cNvSpPr>
            <a:spLocks noGrp="1"/>
          </p:cNvSpPr>
          <p:nvPr/>
        </p:nvSpPr>
        <p:spPr>
          <a:xfrm>
            <a:off x="5705475" y="2514600"/>
            <a:ext cx="51054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Customers and admins share business data, but require different permissions.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F80E4F-0586-498B-A5A2-8B67D3AB2A05}"/>
              </a:ext>
            </a:extLst>
          </p:cNvPr>
          <p:cNvSpPr>
            <a:spLocks noGrp="1"/>
          </p:cNvSpPr>
          <p:nvPr/>
        </p:nvSpPr>
        <p:spPr>
          <a:xfrm>
            <a:off x="5476875" y="3314700"/>
            <a:ext cx="76200" cy="762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296197-A949-40A8-96BB-86BF5E3AA846}"/>
              </a:ext>
            </a:extLst>
          </p:cNvPr>
          <p:cNvSpPr>
            <a:spLocks noGrp="1"/>
          </p:cNvSpPr>
          <p:nvPr/>
        </p:nvSpPr>
        <p:spPr>
          <a:xfrm>
            <a:off x="5705475" y="3219450"/>
            <a:ext cx="5105400" cy="4000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Monolithic designs make cart, catalog, checkout, and analytics harder to scale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911284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C432711-EBBD-42EE-8659-361B5734052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9050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DIFFERENTIATORS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327A9D-E3C4-4594-BBF3-2FB11023FF30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NimbusCart</a:t>
            </a:r>
            <a:r>
              <a:rPr sz="22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is built as a deployable cloud system</a:t>
            </a:r>
            <a:r>
              <a:rPr lang="en-US" sz="22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250" b="1" dirty="0">
              <a:solidFill>
                <a:srgbClr val="10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5BF328-C09F-40B7-BBF2-EF13FB7DC453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50DAF-41AA-418E-AD54-23E53081D5A0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15E886-E07E-42E0-AD1E-88855E5201B3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" cy="7239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EF1FE1-E569-485C-B675-832AE2B62A58}"/>
              </a:ext>
            </a:extLst>
          </p:cNvPr>
          <p:cNvSpPr>
            <a:spLocks noGrp="1"/>
          </p:cNvSpPr>
          <p:nvPr/>
        </p:nvSpPr>
        <p:spPr>
          <a:xfrm>
            <a:off x="933450" y="1714500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Service isolation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E0227-1A9D-4CEA-B778-43425A154FC8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Six independently deployable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03D23E-656A-465C-BDC0-C70B256D985B}"/>
              </a:ext>
            </a:extLst>
          </p:cNvPr>
          <p:cNvSpPr>
            <a:spLocks noGrp="1"/>
          </p:cNvSpPr>
          <p:nvPr/>
        </p:nvSpPr>
        <p:spPr>
          <a:xfrm>
            <a:off x="6048375" y="1619250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73263-26F6-4FA1-9CFB-501822071338}"/>
              </a:ext>
            </a:extLst>
          </p:cNvPr>
          <p:cNvSpPr>
            <a:spLocks noGrp="1"/>
          </p:cNvSpPr>
          <p:nvPr/>
        </p:nvSpPr>
        <p:spPr>
          <a:xfrm>
            <a:off x="6048375" y="1619250"/>
            <a:ext cx="76200" cy="72390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C7151-D816-49D6-BC46-B9D70D0F35D0}"/>
              </a:ext>
            </a:extLst>
          </p:cNvPr>
          <p:cNvSpPr>
            <a:spLocks noGrp="1"/>
          </p:cNvSpPr>
          <p:nvPr/>
        </p:nvSpPr>
        <p:spPr>
          <a:xfrm>
            <a:off x="6219825" y="1714500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Federated auth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0B020F-C16C-4805-A4B2-4624B51FFC94}"/>
              </a:ext>
            </a:extLst>
          </p:cNvPr>
          <p:cNvSpPr>
            <a:spLocks noGrp="1"/>
          </p:cNvSpPr>
          <p:nvPr/>
        </p:nvSpPr>
        <p:spPr>
          <a:xfrm>
            <a:off x="6219825" y="2038350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Google login avoids custom password handling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EB7F7A-76AC-4AE2-A8D4-A84645ADF679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1E2493-1A1C-491E-803C-B34EDA3A3184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76200" cy="723900"/>
          </a:xfrm>
          <a:prstGeom prst="rect">
            <a:avLst/>
          </a:prstGeom>
          <a:solidFill>
            <a:srgbClr val="16A34A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B3938-3D48-4795-A55A-2E0FDFA98490}"/>
              </a:ext>
            </a:extLst>
          </p:cNvPr>
          <p:cNvSpPr>
            <a:spLocks noGrp="1"/>
          </p:cNvSpPr>
          <p:nvPr/>
        </p:nvSpPr>
        <p:spPr>
          <a:xfrm>
            <a:off x="933450" y="2714625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Role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B0B81-559E-4E57-B39B-6BD348D4B7F7}"/>
              </a:ext>
            </a:extLst>
          </p:cNvPr>
          <p:cNvSpPr>
            <a:spLocks noGrp="1"/>
          </p:cNvSpPr>
          <p:nvPr/>
        </p:nvSpPr>
        <p:spPr>
          <a:xfrm>
            <a:off x="933450" y="3038475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RBAC enforced in backend and frontend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4AC6C5-3201-4646-B198-D99379271308}"/>
              </a:ext>
            </a:extLst>
          </p:cNvPr>
          <p:cNvSpPr>
            <a:spLocks noGrp="1"/>
          </p:cNvSpPr>
          <p:nvPr/>
        </p:nvSpPr>
        <p:spPr>
          <a:xfrm>
            <a:off x="6048375" y="2619375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92394E-F979-4257-823C-3577C3DF4CF9}"/>
              </a:ext>
            </a:extLst>
          </p:cNvPr>
          <p:cNvSpPr>
            <a:spLocks noGrp="1"/>
          </p:cNvSpPr>
          <p:nvPr/>
        </p:nvSpPr>
        <p:spPr>
          <a:xfrm>
            <a:off x="6048375" y="2619375"/>
            <a:ext cx="76200" cy="723900"/>
          </a:xfrm>
          <a:prstGeom prst="rect">
            <a:avLst/>
          </a:prstGeom>
          <a:solidFill>
            <a:srgbClr val="D97706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B46773-20E0-4E3A-8B1A-0D8CEB2472BA}"/>
              </a:ext>
            </a:extLst>
          </p:cNvPr>
          <p:cNvSpPr>
            <a:spLocks noGrp="1"/>
          </p:cNvSpPr>
          <p:nvPr/>
        </p:nvSpPr>
        <p:spPr>
          <a:xfrm>
            <a:off x="6219825" y="2714625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Fast cart state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E0DE76-F6D4-44C1-B6B0-E5DF54155683}"/>
              </a:ext>
            </a:extLst>
          </p:cNvPr>
          <p:cNvSpPr>
            <a:spLocks noGrp="1"/>
          </p:cNvSpPr>
          <p:nvPr/>
        </p:nvSpPr>
        <p:spPr>
          <a:xfrm>
            <a:off x="6219825" y="3038475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 stores temporary cart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97B3A8-CA7C-41B6-BFAF-23E75E021601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EF32E3-5B70-4BD3-9816-ECCBBB7ADD55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76200" cy="72390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9B144E-D234-44F4-ADA8-B3BCA30412D4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Workflow orchestration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13989C-712F-4A98-993F-457ADDAA108C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Checkout calls cart, orders, then clears cart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B6D3CB-6519-4006-9218-C045169C719C}"/>
              </a:ext>
            </a:extLst>
          </p:cNvPr>
          <p:cNvSpPr>
            <a:spLocks noGrp="1"/>
          </p:cNvSpPr>
          <p:nvPr/>
        </p:nvSpPr>
        <p:spPr>
          <a:xfrm>
            <a:off x="6048375" y="3619500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9BC3BC-1204-40AD-A9DE-78DDF8D5BC59}"/>
              </a:ext>
            </a:extLst>
          </p:cNvPr>
          <p:cNvSpPr>
            <a:spLocks noGrp="1"/>
          </p:cNvSpPr>
          <p:nvPr/>
        </p:nvSpPr>
        <p:spPr>
          <a:xfrm>
            <a:off x="6048375" y="3619500"/>
            <a:ext cx="76200" cy="72390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1222D6-8AEB-4302-97ED-FD43D6142F33}"/>
              </a:ext>
            </a:extLst>
          </p:cNvPr>
          <p:cNvSpPr>
            <a:spLocks noGrp="1"/>
          </p:cNvSpPr>
          <p:nvPr/>
        </p:nvSpPr>
        <p:spPr>
          <a:xfrm>
            <a:off x="6219825" y="3714750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Repeatable cloud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B9659-31AE-4AE2-A0AF-2DF10D121BE7}"/>
              </a:ext>
            </a:extLst>
          </p:cNvPr>
          <p:cNvSpPr>
            <a:spLocks noGrp="1"/>
          </p:cNvSpPr>
          <p:nvPr/>
        </p:nvSpPr>
        <p:spPr>
          <a:xfrm>
            <a:off x="6219825" y="4038600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 CDK defines infrastructure as code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85553A-7505-4585-8532-33D71DA2271F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4667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921EF8-1BF4-40FC-B68F-943135C0C1C7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76200" cy="723900"/>
          </a:xfrm>
          <a:prstGeom prst="rect">
            <a:avLst/>
          </a:prstGeom>
          <a:solidFill>
            <a:srgbClr val="16A34A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6C7A79-DEF0-45F0-8C4E-CC567F49DDD5}"/>
              </a:ext>
            </a:extLst>
          </p:cNvPr>
          <p:cNvSpPr>
            <a:spLocks noGrp="1"/>
          </p:cNvSpPr>
          <p:nvPr/>
        </p:nvSpPr>
        <p:spPr>
          <a:xfrm>
            <a:off x="933450" y="4714875"/>
            <a:ext cx="44005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Automated releases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AD3D95-5D2C-4D20-B9CE-F09EDB48F72D}"/>
              </a:ext>
            </a:extLst>
          </p:cNvPr>
          <p:cNvSpPr>
            <a:spLocks noGrp="1"/>
          </p:cNvSpPr>
          <p:nvPr/>
        </p:nvSpPr>
        <p:spPr>
          <a:xfrm>
            <a:off x="933450" y="5038725"/>
            <a:ext cx="4400550" cy="2095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AWS-native CI/CD builds and redeploys services</a:t>
            </a:r>
          </a:p>
        </p:txBody>
      </p:sp>
    </p:spTree>
    <p:extLst>
      <p:ext uri="{BB962C8B-B14F-4D97-AF65-F5344CB8AC3E}">
        <p14:creationId xmlns:p14="http://schemas.microsoft.com/office/powerpoint/2010/main" val="56960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5AE1E63-9D4B-49E0-B0E3-A5083AFA3F6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2192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894D53-3FE3-4EFE-8ADA-15A5CF1DBAF6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Three actors cover the core retail and operations workflows.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A59EE-5D41-4165-B230-E2A2100A20AA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D74A0DA-30FD-7816-4189-544498E5F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400"/>
            <a:ext cx="12191999" cy="39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4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8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9B64519-2B70-4725-8951-620F48974104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1811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049C8-DA16-4D77-9E78-D0B367DDFF9A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technology choices match the project’s cloud-service boundaries.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4517D-EAC0-42DF-B61E-27502FAD86B0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AF581-2526-471A-AB34-41FAECEAE89D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1200150" cy="32385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8BD8D-3993-453D-8CAA-1EF4F1065565}"/>
              </a:ext>
            </a:extLst>
          </p:cNvPr>
          <p:cNvSpPr>
            <a:spLocks noGrp="1"/>
          </p:cNvSpPr>
          <p:nvPr/>
        </p:nvSpPr>
        <p:spPr>
          <a:xfrm>
            <a:off x="2381250" y="1619250"/>
            <a:ext cx="7810500" cy="4572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ctr"/>
          <a:lstStyle/>
          <a:p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3, Vite, Pinia, Vue Router, Axios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33625" y="2152650"/>
            <a:ext cx="8048625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51D405-9B2B-4A7F-BD09-A1BDEF838897}"/>
              </a:ext>
            </a:extLst>
          </p:cNvPr>
          <p:cNvSpPr>
            <a:spLocks noGrp="1"/>
          </p:cNvSpPr>
          <p:nvPr/>
        </p:nvSpPr>
        <p:spPr>
          <a:xfrm>
            <a:off x="819150" y="2438400"/>
            <a:ext cx="1200150" cy="32385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74BEE-D1F0-426E-8553-AB29F9102CF1}"/>
              </a:ext>
            </a:extLst>
          </p:cNvPr>
          <p:cNvSpPr>
            <a:spLocks noGrp="1"/>
          </p:cNvSpPr>
          <p:nvPr/>
        </p:nvSpPr>
        <p:spPr>
          <a:xfrm>
            <a:off x="2381250" y="2362200"/>
            <a:ext cx="7810500" cy="4572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ctr"/>
          <a:lstStyle/>
          <a:p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Node.js, Express, Passport.js, JWT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33625" y="2895600"/>
            <a:ext cx="8048625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443A2B9-0B5F-4D6D-A56C-C66EA7254873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1200150" cy="323850"/>
          </a:xfrm>
          <a:prstGeom prst="rect">
            <a:avLst/>
          </a:prstGeom>
          <a:solidFill>
            <a:srgbClr val="16A34A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E08EBC-30AD-47E6-BDEC-A142A05DE731}"/>
              </a:ext>
            </a:extLst>
          </p:cNvPr>
          <p:cNvSpPr>
            <a:spLocks noGrp="1"/>
          </p:cNvSpPr>
          <p:nvPr/>
        </p:nvSpPr>
        <p:spPr>
          <a:xfrm>
            <a:off x="2381250" y="3105150"/>
            <a:ext cx="7810500" cy="4572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ctr"/>
          <a:lstStyle/>
          <a:p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PostgreSQL, Redis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333625" y="3638550"/>
            <a:ext cx="8048625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D187A75-E283-40A1-8463-472FDA607E3E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1200150" cy="323850"/>
          </a:xfrm>
          <a:prstGeom prst="rect">
            <a:avLst/>
          </a:prstGeom>
          <a:solidFill>
            <a:srgbClr val="D97706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2F65E6-400F-4AD6-A692-D8DFE973CAC6}"/>
              </a:ext>
            </a:extLst>
          </p:cNvPr>
          <p:cNvSpPr>
            <a:spLocks noGrp="1"/>
          </p:cNvSpPr>
          <p:nvPr/>
        </p:nvSpPr>
        <p:spPr>
          <a:xfrm>
            <a:off x="2381250" y="3848100"/>
            <a:ext cx="7810500" cy="4572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ctr"/>
          <a:lstStyle/>
          <a:p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Fargate, ALB, RDS, ElastiCache, ECR, Secrets Manager, CloudWatch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333625" y="4381500"/>
            <a:ext cx="8048625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78E795-89D0-42ED-93CB-2466279BEB2B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120015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B37C60-5B6E-4A65-AC55-F07B86B43277}"/>
              </a:ext>
            </a:extLst>
          </p:cNvPr>
          <p:cNvSpPr>
            <a:spLocks noGrp="1"/>
          </p:cNvSpPr>
          <p:nvPr/>
        </p:nvSpPr>
        <p:spPr>
          <a:xfrm>
            <a:off x="2381250" y="4591050"/>
            <a:ext cx="7810500" cy="4572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ctr"/>
          <a:lstStyle/>
          <a:p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Docker, Docker Compose, AWS CDK, CodePipeline, CodeBuild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333625" y="5124450"/>
            <a:ext cx="8048625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</p:spTree>
    <p:extLst>
      <p:ext uri="{BB962C8B-B14F-4D97-AF65-F5344CB8AC3E}">
        <p14:creationId xmlns:p14="http://schemas.microsoft.com/office/powerpoint/2010/main" val="98657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C9B90E9-A926-4010-8B0A-FF17D8440F3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1811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12C809-7F65-4003-8F86-067CA0C0E7FB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 GitHub push can build images and trigger ECS rolling deployments.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783F2-7462-4E65-9CD0-44234887F832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4424E-E775-4542-8F8A-EE2A6629D22E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16573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BB33F3-CC4A-4EA6-8897-832356130B07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76200" cy="9334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858FA4-0FED-4D2C-9BF5-0FE4309871AA}"/>
              </a:ext>
            </a:extLst>
          </p:cNvPr>
          <p:cNvSpPr>
            <a:spLocks noGrp="1"/>
          </p:cNvSpPr>
          <p:nvPr/>
        </p:nvSpPr>
        <p:spPr>
          <a:xfrm>
            <a:off x="838200" y="2524125"/>
            <a:ext cx="13906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1DA224-F451-44A3-91FC-EE51F86798CA}"/>
              </a:ext>
            </a:extLst>
          </p:cNvPr>
          <p:cNvSpPr>
            <a:spLocks noGrp="1"/>
          </p:cNvSpPr>
          <p:nvPr/>
        </p:nvSpPr>
        <p:spPr>
          <a:xfrm>
            <a:off x="838200" y="2847975"/>
            <a:ext cx="1390650" cy="4191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repo push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324100" y="2895600"/>
            <a:ext cx="533400" cy="0"/>
          </a:xfrm>
          <a:prstGeom prst="straightConnector1">
            <a:avLst/>
          </a:prstGeom>
          <a:ln w="19050">
            <a:solidFill>
              <a:srgbClr val="607084"/>
            </a:solidFill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826836A-44CC-4355-8533-3990715DB753}"/>
              </a:ext>
            </a:extLst>
          </p:cNvPr>
          <p:cNvSpPr>
            <a:spLocks noGrp="1"/>
          </p:cNvSpPr>
          <p:nvPr/>
        </p:nvSpPr>
        <p:spPr>
          <a:xfrm>
            <a:off x="2857500" y="2428875"/>
            <a:ext cx="16573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543746-6542-4F20-AEB3-529865BCA1AE}"/>
              </a:ext>
            </a:extLst>
          </p:cNvPr>
          <p:cNvSpPr>
            <a:spLocks noGrp="1"/>
          </p:cNvSpPr>
          <p:nvPr/>
        </p:nvSpPr>
        <p:spPr>
          <a:xfrm>
            <a:off x="2857500" y="2428875"/>
            <a:ext cx="76200" cy="93345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EEAF09-7679-4C11-86B6-E38944729BAD}"/>
              </a:ext>
            </a:extLst>
          </p:cNvPr>
          <p:cNvSpPr>
            <a:spLocks noGrp="1"/>
          </p:cNvSpPr>
          <p:nvPr/>
        </p:nvSpPr>
        <p:spPr>
          <a:xfrm>
            <a:off x="3028950" y="2524125"/>
            <a:ext cx="13906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CodePipeline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BDFDDB-4CD2-410E-B1B0-6A9DC209F0A1}"/>
              </a:ext>
            </a:extLst>
          </p:cNvPr>
          <p:cNvSpPr>
            <a:spLocks noGrp="1"/>
          </p:cNvSpPr>
          <p:nvPr/>
        </p:nvSpPr>
        <p:spPr>
          <a:xfrm>
            <a:off x="3028950" y="2847975"/>
            <a:ext cx="1390650" cy="4191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and build stages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514850" y="2895600"/>
            <a:ext cx="533400" cy="0"/>
          </a:xfrm>
          <a:prstGeom prst="straightConnector1">
            <a:avLst/>
          </a:prstGeom>
          <a:ln w="19050">
            <a:solidFill>
              <a:srgbClr val="607084"/>
            </a:solidFill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621D548-9B41-45BD-AE8A-A867E38D4E17}"/>
              </a:ext>
            </a:extLst>
          </p:cNvPr>
          <p:cNvSpPr>
            <a:spLocks noGrp="1"/>
          </p:cNvSpPr>
          <p:nvPr/>
        </p:nvSpPr>
        <p:spPr>
          <a:xfrm>
            <a:off x="5048250" y="2428875"/>
            <a:ext cx="16573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51CE15-D776-4257-B4C7-5233638CA362}"/>
              </a:ext>
            </a:extLst>
          </p:cNvPr>
          <p:cNvSpPr>
            <a:spLocks noGrp="1"/>
          </p:cNvSpPr>
          <p:nvPr/>
        </p:nvSpPr>
        <p:spPr>
          <a:xfrm>
            <a:off x="5048250" y="2428875"/>
            <a:ext cx="76200" cy="93345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8E2238-238B-40D8-8129-3BF3E57F7A0A}"/>
              </a:ext>
            </a:extLst>
          </p:cNvPr>
          <p:cNvSpPr>
            <a:spLocks noGrp="1"/>
          </p:cNvSpPr>
          <p:nvPr/>
        </p:nvSpPr>
        <p:spPr>
          <a:xfrm>
            <a:off x="5219700" y="2524125"/>
            <a:ext cx="13906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71244F-DE03-4CCB-AA6D-053AB2CA0E51}"/>
              </a:ext>
            </a:extLst>
          </p:cNvPr>
          <p:cNvSpPr>
            <a:spLocks noGrp="1"/>
          </p:cNvSpPr>
          <p:nvPr/>
        </p:nvSpPr>
        <p:spPr>
          <a:xfrm>
            <a:off x="5219700" y="2847975"/>
            <a:ext cx="1390650" cy="4191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Docker build x6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705600" y="2895600"/>
            <a:ext cx="533400" cy="0"/>
          </a:xfrm>
          <a:prstGeom prst="straightConnector1">
            <a:avLst/>
          </a:prstGeom>
          <a:ln w="19050">
            <a:solidFill>
              <a:srgbClr val="607084"/>
            </a:solidFill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5B2D409-33D8-4ED0-86BD-FBC9B8C9A614}"/>
              </a:ext>
            </a:extLst>
          </p:cNvPr>
          <p:cNvSpPr>
            <a:spLocks noGrp="1"/>
          </p:cNvSpPr>
          <p:nvPr/>
        </p:nvSpPr>
        <p:spPr>
          <a:xfrm>
            <a:off x="7239000" y="2428875"/>
            <a:ext cx="16573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C813BF-1355-4A46-BB35-13F535BD8EDE}"/>
              </a:ext>
            </a:extLst>
          </p:cNvPr>
          <p:cNvSpPr>
            <a:spLocks noGrp="1"/>
          </p:cNvSpPr>
          <p:nvPr/>
        </p:nvSpPr>
        <p:spPr>
          <a:xfrm>
            <a:off x="7239000" y="2428875"/>
            <a:ext cx="76200" cy="933450"/>
          </a:xfrm>
          <a:prstGeom prst="rect">
            <a:avLst/>
          </a:prstGeom>
          <a:solidFill>
            <a:srgbClr val="16A34A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4A60B-EB24-4E4B-8770-C06A0EFB4B9F}"/>
              </a:ext>
            </a:extLst>
          </p:cNvPr>
          <p:cNvSpPr>
            <a:spLocks noGrp="1"/>
          </p:cNvSpPr>
          <p:nvPr/>
        </p:nvSpPr>
        <p:spPr>
          <a:xfrm>
            <a:off x="7410450" y="2524125"/>
            <a:ext cx="13906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739E9D-E63E-4E46-A3A1-7CBABAAE5E0B}"/>
              </a:ext>
            </a:extLst>
          </p:cNvPr>
          <p:cNvSpPr>
            <a:spLocks noGrp="1"/>
          </p:cNvSpPr>
          <p:nvPr/>
        </p:nvSpPr>
        <p:spPr>
          <a:xfrm>
            <a:off x="7410450" y="2847975"/>
            <a:ext cx="1390650" cy="4191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Commit tag + latest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8896350" y="2895600"/>
            <a:ext cx="533400" cy="0"/>
          </a:xfrm>
          <a:prstGeom prst="straightConnector1">
            <a:avLst/>
          </a:prstGeom>
          <a:ln w="19050">
            <a:solidFill>
              <a:srgbClr val="607084"/>
            </a:solidFill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1B32DE1-2803-4043-95EB-C0CD0F7E9B4D}"/>
              </a:ext>
            </a:extLst>
          </p:cNvPr>
          <p:cNvSpPr>
            <a:spLocks noGrp="1"/>
          </p:cNvSpPr>
          <p:nvPr/>
        </p:nvSpPr>
        <p:spPr>
          <a:xfrm>
            <a:off x="9429750" y="2428875"/>
            <a:ext cx="16573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047992-0D47-4076-8AC7-9DCD3EAF5415}"/>
              </a:ext>
            </a:extLst>
          </p:cNvPr>
          <p:cNvSpPr>
            <a:spLocks noGrp="1"/>
          </p:cNvSpPr>
          <p:nvPr/>
        </p:nvSpPr>
        <p:spPr>
          <a:xfrm>
            <a:off x="9429750" y="2428875"/>
            <a:ext cx="76200" cy="933450"/>
          </a:xfrm>
          <a:prstGeom prst="rect">
            <a:avLst/>
          </a:prstGeom>
          <a:solidFill>
            <a:srgbClr val="D97706"/>
          </a:solidFill>
          <a:ln w="9525">
            <a:solidFill>
              <a:srgbClr val="D8DD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2B0B00-7169-4E65-A94F-A9A3FF90EA3C}"/>
              </a:ext>
            </a:extLst>
          </p:cNvPr>
          <p:cNvSpPr>
            <a:spLocks noGrp="1"/>
          </p:cNvSpPr>
          <p:nvPr/>
        </p:nvSpPr>
        <p:spPr>
          <a:xfrm>
            <a:off x="9601200" y="2524125"/>
            <a:ext cx="139065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7179C3-B731-4E7E-BB4B-1828F486FD55}"/>
              </a:ext>
            </a:extLst>
          </p:cNvPr>
          <p:cNvSpPr>
            <a:spLocks noGrp="1"/>
          </p:cNvSpPr>
          <p:nvPr/>
        </p:nvSpPr>
        <p:spPr>
          <a:xfrm>
            <a:off x="9601200" y="2847975"/>
            <a:ext cx="1390650" cy="4191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Rolling redeploy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157623-A642-4E00-8592-FAF45473A52C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1524000" cy="323850"/>
          </a:xfrm>
          <a:prstGeom prst="rect">
            <a:avLst/>
          </a:prstGeom>
          <a:solidFill>
            <a:srgbClr val="2563EB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ECR login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F0453E-B3B6-43DA-B60A-74EACD3A5C37}"/>
              </a:ext>
            </a:extLst>
          </p:cNvPr>
          <p:cNvSpPr>
            <a:spLocks noGrp="1"/>
          </p:cNvSpPr>
          <p:nvPr/>
        </p:nvSpPr>
        <p:spPr>
          <a:xfrm>
            <a:off x="4143375" y="4095750"/>
            <a:ext cx="1524000" cy="32385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images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0BE10B-A2EE-4F98-B263-FAD674FACB8D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1524000" cy="323850"/>
          </a:xfrm>
          <a:prstGeom prst="rect">
            <a:avLst/>
          </a:prstGeom>
          <a:solidFill>
            <a:srgbClr val="16A34A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Push images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B3A545-7FDD-4A0F-B36C-4937BE296356}"/>
              </a:ext>
            </a:extLst>
          </p:cNvPr>
          <p:cNvSpPr>
            <a:spLocks noGrp="1"/>
          </p:cNvSpPr>
          <p:nvPr/>
        </p:nvSpPr>
        <p:spPr>
          <a:xfrm>
            <a:off x="8429625" y="4095750"/>
            <a:ext cx="1524000" cy="323850"/>
          </a:xfrm>
          <a:prstGeom prst="rect">
            <a:avLst/>
          </a:prstGeom>
          <a:solidFill>
            <a:srgbClr val="D97706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Force ECS deployment</a:t>
            </a:r>
          </a:p>
        </p:txBody>
      </p:sp>
    </p:spTree>
    <p:extLst>
      <p:ext uri="{BB962C8B-B14F-4D97-AF65-F5344CB8AC3E}">
        <p14:creationId xmlns:p14="http://schemas.microsoft.com/office/powerpoint/2010/main" val="9774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imbusCart AWS Architecture Diagram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08BE814-C54A-4EC7-AD64-2033C26DF34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219200" cy="323850"/>
          </a:xfrm>
          <a:prstGeom prst="rect">
            <a:avLst/>
          </a:prstGeom>
          <a:solidFill>
            <a:srgbClr val="101827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F88EA-5BD9-45AC-8D73-9AD223DB3E13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demo follows the customer journey, then switches to admin controls.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D960F9-8165-47EB-BB22-3A943964939F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471850-EAEF-49A4-BE75-CC3295400D9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631A65-84EC-4DE9-BBAA-D0A043CA8F18}"/>
              </a:ext>
            </a:extLst>
          </p:cNvPr>
          <p:cNvSpPr>
            <a:spLocks noGrp="1"/>
          </p:cNvSpPr>
          <p:nvPr/>
        </p:nvSpPr>
        <p:spPr>
          <a:xfrm>
            <a:off x="990600" y="1828800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1C069-7F43-447B-90D0-C00509166349}"/>
              </a:ext>
            </a:extLst>
          </p:cNvPr>
          <p:cNvSpPr>
            <a:spLocks noGrp="1"/>
          </p:cNvSpPr>
          <p:nvPr/>
        </p:nvSpPr>
        <p:spPr>
          <a:xfrm>
            <a:off x="1428750" y="1828800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EAE2C-8C81-452A-8FC0-D21C13469987}"/>
              </a:ext>
            </a:extLst>
          </p:cNvPr>
          <p:cNvSpPr>
            <a:spLocks noGrp="1"/>
          </p:cNvSpPr>
          <p:nvPr/>
        </p:nvSpPr>
        <p:spPr>
          <a:xfrm>
            <a:off x="3486150" y="16573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25031F-66DE-4D55-BEC1-A653E5243E3F}"/>
              </a:ext>
            </a:extLst>
          </p:cNvPr>
          <p:cNvSpPr>
            <a:spLocks noGrp="1"/>
          </p:cNvSpPr>
          <p:nvPr/>
        </p:nvSpPr>
        <p:spPr>
          <a:xfrm>
            <a:off x="3657600" y="1828800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E249C-AE33-4C82-919D-B6926EA4C07F}"/>
              </a:ext>
            </a:extLst>
          </p:cNvPr>
          <p:cNvSpPr>
            <a:spLocks noGrp="1"/>
          </p:cNvSpPr>
          <p:nvPr/>
        </p:nvSpPr>
        <p:spPr>
          <a:xfrm>
            <a:off x="4095750" y="1828800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catalog and filter products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504BE9-E7D6-4920-9ED7-D7180A3E3BCD}"/>
              </a:ext>
            </a:extLst>
          </p:cNvPr>
          <p:cNvSpPr>
            <a:spLocks noGrp="1"/>
          </p:cNvSpPr>
          <p:nvPr/>
        </p:nvSpPr>
        <p:spPr>
          <a:xfrm>
            <a:off x="6153150" y="16573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4B109F-967F-47AB-84AC-EAB9A2879DD9}"/>
              </a:ext>
            </a:extLst>
          </p:cNvPr>
          <p:cNvSpPr>
            <a:spLocks noGrp="1"/>
          </p:cNvSpPr>
          <p:nvPr/>
        </p:nvSpPr>
        <p:spPr>
          <a:xfrm>
            <a:off x="6324600" y="1828800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183C40-153D-4E39-85CE-5D7A63B0161D}"/>
              </a:ext>
            </a:extLst>
          </p:cNvPr>
          <p:cNvSpPr>
            <a:spLocks noGrp="1"/>
          </p:cNvSpPr>
          <p:nvPr/>
        </p:nvSpPr>
        <p:spPr>
          <a:xfrm>
            <a:off x="6762750" y="1828800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products to cart and update quantity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9AAA95-F9A1-404F-AFCF-5101BFE615FB}"/>
              </a:ext>
            </a:extLst>
          </p:cNvPr>
          <p:cNvSpPr>
            <a:spLocks noGrp="1"/>
          </p:cNvSpPr>
          <p:nvPr/>
        </p:nvSpPr>
        <p:spPr>
          <a:xfrm>
            <a:off x="8820150" y="16573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197A88-1ECD-45E0-9AEB-D1653B9A0159}"/>
              </a:ext>
            </a:extLst>
          </p:cNvPr>
          <p:cNvSpPr>
            <a:spLocks noGrp="1"/>
          </p:cNvSpPr>
          <p:nvPr/>
        </p:nvSpPr>
        <p:spPr>
          <a:xfrm>
            <a:off x="8991600" y="1828800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C5121-BBBE-45A0-AE58-1B6FACAEE01C}"/>
              </a:ext>
            </a:extLst>
          </p:cNvPr>
          <p:cNvSpPr>
            <a:spLocks noGrp="1"/>
          </p:cNvSpPr>
          <p:nvPr/>
        </p:nvSpPr>
        <p:spPr>
          <a:xfrm>
            <a:off x="9429750" y="1828800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Place order with shipping details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1D5AC1-EE83-48D1-9D23-437939913783}"/>
              </a:ext>
            </a:extLst>
          </p:cNvPr>
          <p:cNvSpPr>
            <a:spLocks noGrp="1"/>
          </p:cNvSpPr>
          <p:nvPr/>
        </p:nvSpPr>
        <p:spPr>
          <a:xfrm>
            <a:off x="819150" y="3133725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B666FC-91AE-4BEC-A40D-D0E01F1F7223}"/>
              </a:ext>
            </a:extLst>
          </p:cNvPr>
          <p:cNvSpPr>
            <a:spLocks noGrp="1"/>
          </p:cNvSpPr>
          <p:nvPr/>
        </p:nvSpPr>
        <p:spPr>
          <a:xfrm>
            <a:off x="990600" y="3305175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24EA86-C107-4E73-AB80-B97960BA606A}"/>
              </a:ext>
            </a:extLst>
          </p:cNvPr>
          <p:cNvSpPr>
            <a:spLocks noGrp="1"/>
          </p:cNvSpPr>
          <p:nvPr/>
        </p:nvSpPr>
        <p:spPr>
          <a:xfrm>
            <a:off x="1428750" y="3305175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 and details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F669E1-8785-41DE-B483-BAA5634E19E7}"/>
              </a:ext>
            </a:extLst>
          </p:cNvPr>
          <p:cNvSpPr>
            <a:spLocks noGrp="1"/>
          </p:cNvSpPr>
          <p:nvPr/>
        </p:nvSpPr>
        <p:spPr>
          <a:xfrm>
            <a:off x="3486150" y="3133725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B9B45-281D-4DA9-AAEA-15A797A0D6C4}"/>
              </a:ext>
            </a:extLst>
          </p:cNvPr>
          <p:cNvSpPr>
            <a:spLocks noGrp="1"/>
          </p:cNvSpPr>
          <p:nvPr/>
        </p:nvSpPr>
        <p:spPr>
          <a:xfrm>
            <a:off x="3657600" y="3305175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723E40-C770-475F-BEF8-35AEBA0EA148}"/>
              </a:ext>
            </a:extLst>
          </p:cNvPr>
          <p:cNvSpPr>
            <a:spLocks noGrp="1"/>
          </p:cNvSpPr>
          <p:nvPr/>
        </p:nvSpPr>
        <p:spPr>
          <a:xfrm>
            <a:off x="4095750" y="3305175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admin Enterprise Data Viewer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484345-0F8E-4C16-932C-EF381310C937}"/>
              </a:ext>
            </a:extLst>
          </p:cNvPr>
          <p:cNvSpPr>
            <a:spLocks noGrp="1"/>
          </p:cNvSpPr>
          <p:nvPr/>
        </p:nvSpPr>
        <p:spPr>
          <a:xfrm>
            <a:off x="6153150" y="3133725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67C8CB-F84D-4F00-929A-FCA43D855EA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400050" cy="342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53000D-825C-4E9B-AA52-82EDE1977FC3}"/>
              </a:ext>
            </a:extLst>
          </p:cNvPr>
          <p:cNvSpPr>
            <a:spLocks noGrp="1"/>
          </p:cNvSpPr>
          <p:nvPr/>
        </p:nvSpPr>
        <p:spPr>
          <a:xfrm>
            <a:off x="6762750" y="3305175"/>
            <a:ext cx="1219200" cy="647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or delete catalog products</a:t>
            </a:r>
          </a:p>
        </p:txBody>
      </p:sp>
    </p:spTree>
    <p:extLst>
      <p:ext uri="{BB962C8B-B14F-4D97-AF65-F5344CB8AC3E}">
        <p14:creationId xmlns:p14="http://schemas.microsoft.com/office/powerpoint/2010/main" val="114867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32BA346-BDAC-437C-B19F-E82B287BFCE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181100" cy="323850"/>
          </a:xfrm>
          <a:prstGeom prst="rect">
            <a:avLst/>
          </a:prstGeom>
          <a:solidFill>
            <a:srgbClr val="0891B2"/>
          </a:solidFill>
          <a:ln w="9525">
            <a:solidFill>
              <a:srgbClr val="D8DDE6"/>
            </a:solidFill>
          </a:ln>
        </p:spPr>
        <p:txBody>
          <a:bodyPr wrap="square" lIns="76200" tIns="47625" rIns="76200" bIns="47625" anchor="ctr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06CFB-C159-4180-B4E9-13E1C232243E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191500" cy="7239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2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 demonstrates a secure, cloud-native retail platform.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FC389C-4C44-4D1D-AE48-722A53FE6885}"/>
              </a:ext>
            </a:extLst>
          </p:cNvPr>
          <p:cNvSpPr>
            <a:spLocks noGrp="1"/>
          </p:cNvSpPr>
          <p:nvPr/>
        </p:nvSpPr>
        <p:spPr>
          <a:xfrm>
            <a:off x="11096625" y="6076950"/>
            <a:ext cx="457200" cy="2667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AEF15-C356-47AD-9FCE-93C27FA3E81F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5334000" cy="3238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Secure customer and admin workflows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65CFA-1A7D-4C32-AFCA-079A631C2B5D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5334000" cy="3238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AWS-managed infrastructure and automated deployment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F48E0-FBB5-4CC7-9E3F-88F47CD7B921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5334000" cy="3238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 foundation that can evolve toward production-grade retail operations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078598-9E7E-4ECD-9D59-A123C5935BFE}"/>
              </a:ext>
            </a:extLst>
          </p:cNvPr>
          <p:cNvSpPr>
            <a:spLocks noGrp="1"/>
          </p:cNvSpPr>
          <p:nvPr/>
        </p:nvSpPr>
        <p:spPr>
          <a:xfrm>
            <a:off x="7000875" y="1428750"/>
            <a:ext cx="3857625" cy="3714750"/>
          </a:xfrm>
          <a:prstGeom prst="rect">
            <a:avLst/>
          </a:prstGeom>
          <a:solidFill>
            <a:srgbClr val="152238"/>
          </a:solidFill>
          <a:ln w="9525">
            <a:solidFill>
              <a:srgbClr val="3341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D83828-AE4D-41AC-89F9-4FF89D3286D8}"/>
              </a:ext>
            </a:extLst>
          </p:cNvPr>
          <p:cNvSpPr>
            <a:spLocks noGrp="1"/>
          </p:cNvSpPr>
          <p:nvPr/>
        </p:nvSpPr>
        <p:spPr>
          <a:xfrm>
            <a:off x="7296150" y="1695450"/>
            <a:ext cx="2381250" cy="28575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6103D-E260-4C73-8358-C3B267FF2D27}"/>
              </a:ext>
            </a:extLst>
          </p:cNvPr>
          <p:cNvSpPr>
            <a:spLocks noGrp="1"/>
          </p:cNvSpPr>
          <p:nvPr/>
        </p:nvSpPr>
        <p:spPr>
          <a:xfrm>
            <a:off x="7296150" y="2190750"/>
            <a:ext cx="3143250" cy="4953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NimbusCart README.md and infrastructure/lib/nimbuscart-stack.ts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8B245-E54D-4E80-872D-9CDE89F68E7F}"/>
              </a:ext>
            </a:extLst>
          </p:cNvPr>
          <p:cNvSpPr>
            <a:spLocks noGrp="1"/>
          </p:cNvSpPr>
          <p:nvPr/>
        </p:nvSpPr>
        <p:spPr>
          <a:xfrm>
            <a:off x="7296150" y="2800350"/>
            <a:ext cx="3143250" cy="4953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U.S. Census Bureau, Quarterly Retail E-Commerce Sales, Q4 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24DFBA-41E3-4340-9139-CB79383D365F}"/>
              </a:ext>
            </a:extLst>
          </p:cNvPr>
          <p:cNvSpPr>
            <a:spLocks noGrp="1"/>
          </p:cNvSpPr>
          <p:nvPr/>
        </p:nvSpPr>
        <p:spPr>
          <a:xfrm>
            <a:off x="7296150" y="3409950"/>
            <a:ext cx="3143250" cy="4953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AWS documentation: ECS, ALB, RDS, ECR, Secrets Manager, CodePipeline, CodeBuild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B199CD-1361-4111-8E1E-3D0A5C213CF4}"/>
              </a:ext>
            </a:extLst>
          </p:cNvPr>
          <p:cNvSpPr>
            <a:spLocks noGrp="1"/>
          </p:cNvSpPr>
          <p:nvPr/>
        </p:nvSpPr>
        <p:spPr>
          <a:xfrm>
            <a:off x="7296150" y="4019550"/>
            <a:ext cx="3143250" cy="495300"/>
          </a:xfrm>
          <a:prstGeom prst="rect">
            <a:avLst/>
          </a:prstGeom>
          <a:ln>
            <a:noFill/>
          </a:ln>
        </p:spPr>
        <p:txBody>
          <a:bodyPr wrap="square" lIns="76200" tIns="57150" rIns="76200" bIns="5715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Google OAuth 2.0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321064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1578</Words>
  <Application>Microsoft Macintosh PowerPoint</Application>
  <DocSecurity>0</DocSecurity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Joshini Meenakshisundaram Naagraj</cp:lastModifiedBy>
  <cp:revision>3</cp:revision>
  <dcterms:created xsi:type="dcterms:W3CDTF">2026-05-07T06:20:37Z</dcterms:created>
  <dcterms:modified xsi:type="dcterms:W3CDTF">2026-05-07T07:16:20Z</dcterms:modified>
</cp:coreProperties>
</file>